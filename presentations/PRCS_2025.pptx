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1"/>
  </p:sldMasterIdLst>
  <p:notesMasterIdLst>
    <p:notesMasterId r:id="rId3"/>
  </p:notesMasterIdLst>
  <p:handoutMasterIdLst>
    <p:handoutMasterId r:id="rId4"/>
  </p:handoutMasterIdLst>
  <p:sldIdLst>
    <p:sldId id="280" r:id="rId2"/>
  </p:sldIdLst>
  <p:sldSz cx="32918400" cy="43891200"/>
  <p:notesSz cx="6858000" cy="9144000"/>
  <p:defaultTextStyle>
    <a:defPPr>
      <a:defRPr lang="en-US"/>
    </a:defPPr>
    <a:lvl1pPr marL="0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1pPr>
    <a:lvl2pPr marL="1625279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2pPr>
    <a:lvl3pPr marL="3250554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3pPr>
    <a:lvl4pPr marL="4875826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4pPr>
    <a:lvl5pPr marL="6501105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5pPr>
    <a:lvl6pPr marL="8126380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6pPr>
    <a:lvl7pPr marL="9751659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7pPr>
    <a:lvl8pPr marL="11376934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8pPr>
    <a:lvl9pPr marL="13002210" algn="l" defTabSz="3250554" rtl="0" eaLnBrk="1" latinLnBrk="0" hangingPunct="1">
      <a:defRPr sz="6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830">
          <p15:clr>
            <a:srgbClr val="A4A3A4"/>
          </p15:clr>
        </p15:guide>
        <p15:guide id="2" pos="2073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J" initials="Mj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F8F"/>
    <a:srgbClr val="A12B2F"/>
    <a:srgbClr val="007836"/>
    <a:srgbClr val="ECAA00"/>
    <a:srgbClr val="76777B"/>
    <a:srgbClr val="00609C"/>
    <a:srgbClr val="ECAC00"/>
    <a:srgbClr val="00A19C"/>
    <a:srgbClr val="0082CA"/>
    <a:srgbClr val="4D0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FCA13B-96F6-454D-9629-AEEDE6A9588B}" v="97" dt="2025-06-06T19:10:20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96" autoAdjust="0"/>
    <p:restoredTop sz="93425" autoAdjust="0"/>
  </p:normalViewPr>
  <p:slideViewPr>
    <p:cSldViewPr snapToGrid="0" showGuides="1">
      <p:cViewPr>
        <p:scale>
          <a:sx n="40" d="100"/>
          <a:sy n="40" d="100"/>
        </p:scale>
        <p:origin x="1504" y="-5440"/>
      </p:cViewPr>
      <p:guideLst>
        <p:guide orient="horz" pos="25830"/>
        <p:guide pos="207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rniawan, Kurniawan" userId="GPxeKduugmwZvetWgUODELc7YRYt6osFwE6uLmQQXAg=" providerId="None" clId="Web-{06FCA13B-96F6-454D-9629-AEEDE6A9588B}"/>
    <pc:docChg chg="modSld">
      <pc:chgData name="Kurniawan, Kurniawan" userId="GPxeKduugmwZvetWgUODELc7YRYt6osFwE6uLmQQXAg=" providerId="None" clId="Web-{06FCA13B-96F6-454D-9629-AEEDE6A9588B}" dt="2025-06-06T19:10:20.684" v="89" actId="20577"/>
      <pc:docMkLst>
        <pc:docMk/>
      </pc:docMkLst>
      <pc:sldChg chg="addSp modSp">
        <pc:chgData name="Kurniawan, Kurniawan" userId="GPxeKduugmwZvetWgUODELc7YRYt6osFwE6uLmQQXAg=" providerId="None" clId="Web-{06FCA13B-96F6-454D-9629-AEEDE6A9588B}" dt="2025-06-06T19:09:16.653" v="66" actId="20577"/>
        <pc:sldMkLst>
          <pc:docMk/>
          <pc:sldMk cId="3223227131" sldId="281"/>
        </pc:sldMkLst>
        <pc:spChg chg="mod">
          <ac:chgData name="Kurniawan, Kurniawan" userId="GPxeKduugmwZvetWgUODELc7YRYt6osFwE6uLmQQXAg=" providerId="None" clId="Web-{06FCA13B-96F6-454D-9629-AEEDE6A9588B}" dt="2025-06-06T19:07:27.544" v="4" actId="14100"/>
          <ac:spMkLst>
            <pc:docMk/>
            <pc:sldMk cId="3223227131" sldId="281"/>
            <ac:spMk id="10" creationId="{00000000-0000-0000-0000-000000000000}"/>
          </ac:spMkLst>
        </pc:spChg>
        <pc:spChg chg="mod">
          <ac:chgData name="Kurniawan, Kurniawan" userId="GPxeKduugmwZvetWgUODELc7YRYt6osFwE6uLmQQXAg=" providerId="None" clId="Web-{06FCA13B-96F6-454D-9629-AEEDE6A9588B}" dt="2025-06-06T19:08:48.262" v="45" actId="20577"/>
          <ac:spMkLst>
            <pc:docMk/>
            <pc:sldMk cId="3223227131" sldId="281"/>
            <ac:spMk id="11" creationId="{00000000-0000-0000-0000-000000000000}"/>
          </ac:spMkLst>
        </pc:spChg>
        <pc:spChg chg="add mod">
          <ac:chgData name="Kurniawan, Kurniawan" userId="GPxeKduugmwZvetWgUODELc7YRYt6osFwE6uLmQQXAg=" providerId="None" clId="Web-{06FCA13B-96F6-454D-9629-AEEDE6A9588B}" dt="2025-06-06T19:09:16.653" v="66" actId="20577"/>
          <ac:spMkLst>
            <pc:docMk/>
            <pc:sldMk cId="3223227131" sldId="281"/>
            <ac:spMk id="21" creationId="{F82D146B-A850-A0FB-84E9-4DDAA836A14D}"/>
          </ac:spMkLst>
        </pc:spChg>
        <pc:spChg chg="add mod">
          <ac:chgData name="Kurniawan, Kurniawan" userId="GPxeKduugmwZvetWgUODELc7YRYt6osFwE6uLmQQXAg=" providerId="None" clId="Web-{06FCA13B-96F6-454D-9629-AEEDE6A9588B}" dt="2025-06-06T19:08:23.637" v="30" actId="20577"/>
          <ac:spMkLst>
            <pc:docMk/>
            <pc:sldMk cId="3223227131" sldId="281"/>
            <ac:spMk id="23" creationId="{9194E11A-B95C-464D-97D7-E500AC669D44}"/>
          </ac:spMkLst>
        </pc:spChg>
      </pc:sldChg>
      <pc:sldChg chg="addSp delSp modSp">
        <pc:chgData name="Kurniawan, Kurniawan" userId="GPxeKduugmwZvetWgUODELc7YRYt6osFwE6uLmQQXAg=" providerId="None" clId="Web-{06FCA13B-96F6-454D-9629-AEEDE6A9588B}" dt="2025-06-06T19:10:20.684" v="89" actId="20577"/>
        <pc:sldMkLst>
          <pc:docMk/>
          <pc:sldMk cId="3619925637" sldId="282"/>
        </pc:sldMkLst>
        <pc:spChg chg="add del mod">
          <ac:chgData name="Kurniawan, Kurniawan" userId="GPxeKduugmwZvetWgUODELc7YRYt6osFwE6uLmQQXAg=" providerId="None" clId="Web-{06FCA13B-96F6-454D-9629-AEEDE6A9588B}" dt="2025-06-06T19:09:34.637" v="69"/>
          <ac:spMkLst>
            <pc:docMk/>
            <pc:sldMk cId="3619925637" sldId="282"/>
            <ac:spMk id="3" creationId="{1850A5D5-C9FC-90A5-77AE-826CD8C4BC2F}"/>
          </ac:spMkLst>
        </pc:spChg>
        <pc:spChg chg="add mod">
          <ac:chgData name="Kurniawan, Kurniawan" userId="GPxeKduugmwZvetWgUODELc7YRYt6osFwE6uLmQQXAg=" providerId="None" clId="Web-{06FCA13B-96F6-454D-9629-AEEDE6A9588B}" dt="2025-06-06T19:10:20.684" v="89" actId="20577"/>
          <ac:spMkLst>
            <pc:docMk/>
            <pc:sldMk cId="3619925637" sldId="282"/>
            <ac:spMk id="5" creationId="{E2DB0EFA-8227-E4A9-4445-225581EC3393}"/>
          </ac:spMkLst>
        </pc:spChg>
        <pc:spChg chg="add mod">
          <ac:chgData name="Kurniawan, Kurniawan" userId="GPxeKduugmwZvetWgUODELc7YRYt6osFwE6uLmQQXAg=" providerId="None" clId="Web-{06FCA13B-96F6-454D-9629-AEEDE6A9588B}" dt="2025-06-06T19:10:13.527" v="83" actId="20577"/>
          <ac:spMkLst>
            <pc:docMk/>
            <pc:sldMk cId="3619925637" sldId="282"/>
            <ac:spMk id="7" creationId="{041820EF-508B-63B7-B2EB-DFEB3671AEED}"/>
          </ac:spMkLst>
        </pc:spChg>
        <pc:spChg chg="mod">
          <ac:chgData name="Kurniawan, Kurniawan" userId="GPxeKduugmwZvetWgUODELc7YRYt6osFwE6uLmQQXAg=" providerId="None" clId="Web-{06FCA13B-96F6-454D-9629-AEEDE6A9588B}" dt="2025-06-06T19:09:47.012" v="71" actId="1076"/>
          <ac:spMkLst>
            <pc:docMk/>
            <pc:sldMk cId="3619925637" sldId="282"/>
            <ac:spMk id="5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86795E-F386-0C49-942F-B1458A319E02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15C89-C29F-C54A-AE1C-F46793664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80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0A489-9093-C54A-B1C3-374F661A001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A7A1A-8011-3A42-91B8-EE1BD44E4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91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625279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3250554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4875826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6501105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8126380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9751659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11376934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13002210" algn="l" defTabSz="162527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A7A1A-8011-3A42-91B8-EE1BD44E44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735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Colorf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ontent Placeholder 2"/>
          <p:cNvSpPr>
            <a:spLocks noGrp="1"/>
          </p:cNvSpPr>
          <p:nvPr>
            <p:ph idx="71" hasCustomPrompt="1"/>
          </p:nvPr>
        </p:nvSpPr>
        <p:spPr>
          <a:xfrm>
            <a:off x="22127541" y="34253007"/>
            <a:ext cx="10094976" cy="6680526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Content Placeholder 2"/>
          <p:cNvSpPr>
            <a:spLocks noGrp="1"/>
          </p:cNvSpPr>
          <p:nvPr>
            <p:ph idx="70" hasCustomPrompt="1"/>
          </p:nvPr>
        </p:nvSpPr>
        <p:spPr>
          <a:xfrm>
            <a:off x="11423845" y="34253007"/>
            <a:ext cx="10094976" cy="6680526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68" hasCustomPrompt="1"/>
          </p:nvPr>
        </p:nvSpPr>
        <p:spPr>
          <a:xfrm>
            <a:off x="16793834" y="18181791"/>
            <a:ext cx="15465780" cy="15418085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Content Placeholder 2"/>
          <p:cNvSpPr>
            <a:spLocks noGrp="1"/>
          </p:cNvSpPr>
          <p:nvPr>
            <p:ph idx="67" hasCustomPrompt="1"/>
          </p:nvPr>
        </p:nvSpPr>
        <p:spPr>
          <a:xfrm>
            <a:off x="683867" y="18181791"/>
            <a:ext cx="15423448" cy="15418085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65" hasCustomPrompt="1"/>
          </p:nvPr>
        </p:nvSpPr>
        <p:spPr>
          <a:xfrm>
            <a:off x="16763074" y="7315200"/>
            <a:ext cx="7415784" cy="10213848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idx="66" hasCustomPrompt="1"/>
          </p:nvPr>
        </p:nvSpPr>
        <p:spPr>
          <a:xfrm>
            <a:off x="24843831" y="7315200"/>
            <a:ext cx="7415784" cy="10213848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5" y="-1"/>
            <a:ext cx="32918400" cy="4797880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t" anchorCtr="0">
            <a:noAutofit/>
          </a:bodyPr>
          <a:lstStyle/>
          <a:p>
            <a:pPr algn="r" defTabSz="1624898">
              <a:spcBef>
                <a:spcPts val="2129"/>
              </a:spcBef>
              <a:buFont typeface="Wingdings" pitchFamily="2" charset="2"/>
              <a:buNone/>
            </a:pPr>
            <a:endParaRPr lang="en-US" sz="400" b="1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0" y="4760252"/>
            <a:ext cx="32918400" cy="199183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24898" tIns="162487" rIns="324977" bIns="162487" rtlCol="0" anchor="ctr"/>
          <a:lstStyle/>
          <a:p>
            <a:pPr defTabSz="3249793"/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382919" y="898525"/>
            <a:ext cx="30836961" cy="2631971"/>
          </a:xfrm>
        </p:spPr>
        <p:txBody>
          <a:bodyPr anchor="b"/>
          <a:lstStyle>
            <a:lvl1pPr>
              <a:defRPr lang="en-US" sz="10000" b="1" kern="1200" cap="all" baseline="0" dirty="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11" name="Text Placeholder 10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382918" y="3662893"/>
            <a:ext cx="30817421" cy="855566"/>
          </a:xfrm>
        </p:spPr>
        <p:txBody>
          <a:bodyPr/>
          <a:lstStyle>
            <a:lvl1pPr marL="0" indent="0">
              <a:buNone/>
              <a:defRPr sz="6000">
                <a:solidFill>
                  <a:srgbClr val="FFFFFF"/>
                </a:solidFill>
              </a:defRPr>
            </a:lvl1pPr>
            <a:lvl2pPr marL="1009916" indent="0">
              <a:buNone/>
              <a:defRPr/>
            </a:lvl2pPr>
            <a:lvl3pPr marL="2189089" indent="0">
              <a:buNone/>
              <a:defRPr/>
            </a:lvl3pPr>
            <a:lvl4pPr marL="3255431" indent="0">
              <a:buNone/>
              <a:defRPr/>
            </a:lvl4pPr>
            <a:lvl5pPr marL="4265347" indent="0">
              <a:buNone/>
              <a:defRPr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2" name="Text Placeholder 11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1331120" y="5085098"/>
            <a:ext cx="30558581" cy="1342139"/>
          </a:xfrm>
        </p:spPr>
        <p:txBody>
          <a:bodyPr anchor="ctr" anchorCtr="0"/>
          <a:lstStyle>
            <a:lvl1pPr marL="0" marR="0" indent="0" algn="l" defTabSz="1624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3200" baseline="0">
                <a:solidFill>
                  <a:schemeClr val="bg1"/>
                </a:solidFill>
              </a:defRPr>
            </a:lvl1pPr>
            <a:lvl2pPr marL="1009916" indent="0">
              <a:buNone/>
              <a:defRPr sz="3200"/>
            </a:lvl2pPr>
            <a:lvl3pPr marL="2189096" indent="0">
              <a:buNone/>
              <a:defRPr sz="3200"/>
            </a:lvl3pPr>
            <a:lvl4pPr marL="3255435" indent="0">
              <a:buNone/>
              <a:defRPr sz="3200"/>
            </a:lvl4pPr>
            <a:lvl5pPr marL="4265347" indent="0">
              <a:buNone/>
              <a:defRPr sz="3200"/>
            </a:lvl5pPr>
          </a:lstStyle>
          <a:p>
            <a:pPr lvl="0"/>
            <a:r>
              <a:rPr lang="en-US" dirty="0"/>
              <a:t>Researcher Names</a:t>
            </a:r>
          </a:p>
          <a:p>
            <a:pPr lvl="0"/>
            <a:r>
              <a:rPr lang="en-US" dirty="0"/>
              <a:t>Researcher Names</a:t>
            </a:r>
          </a:p>
          <a:p>
            <a:pPr marL="0" marR="0" lvl="0" indent="0" algn="l" defTabSz="1624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Researcher Names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683866" y="7315200"/>
            <a:ext cx="15426103" cy="10213848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" name="Picture Placeholder 4"/>
          <p:cNvSpPr>
            <a:spLocks noGrp="1"/>
          </p:cNvSpPr>
          <p:nvPr>
            <p:ph type="pic" sz="quarter" idx="44" hasCustomPrompt="1"/>
          </p:nvPr>
        </p:nvSpPr>
        <p:spPr>
          <a:xfrm>
            <a:off x="17059781" y="12636203"/>
            <a:ext cx="6900112" cy="459429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9" name="Picture Placeholder 4"/>
          <p:cNvSpPr>
            <a:spLocks noGrp="1"/>
          </p:cNvSpPr>
          <p:nvPr>
            <p:ph type="pic" sz="quarter" idx="45" hasCustomPrompt="1"/>
          </p:nvPr>
        </p:nvSpPr>
        <p:spPr>
          <a:xfrm>
            <a:off x="25060527" y="12636203"/>
            <a:ext cx="6900112" cy="459429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0" name="Picture Placeholder 4"/>
          <p:cNvSpPr>
            <a:spLocks noGrp="1"/>
          </p:cNvSpPr>
          <p:nvPr>
            <p:ph type="pic" sz="quarter" idx="43" hasCustomPrompt="1"/>
          </p:nvPr>
        </p:nvSpPr>
        <p:spPr>
          <a:xfrm>
            <a:off x="931303" y="21929723"/>
            <a:ext cx="14879692" cy="1140718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9" name="Picture Placeholder 4"/>
          <p:cNvSpPr>
            <a:spLocks noGrp="1"/>
          </p:cNvSpPr>
          <p:nvPr>
            <p:ph type="pic" sz="quarter" idx="48" hasCustomPrompt="1"/>
          </p:nvPr>
        </p:nvSpPr>
        <p:spPr>
          <a:xfrm>
            <a:off x="17144447" y="21949984"/>
            <a:ext cx="7154104" cy="556800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50" name="Picture Placeholder 4"/>
          <p:cNvSpPr>
            <a:spLocks noGrp="1"/>
          </p:cNvSpPr>
          <p:nvPr>
            <p:ph type="pic" sz="quarter" idx="49" hasCustomPrompt="1"/>
          </p:nvPr>
        </p:nvSpPr>
        <p:spPr>
          <a:xfrm>
            <a:off x="24764203" y="21949984"/>
            <a:ext cx="7154104" cy="556800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5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683867" y="34253007"/>
            <a:ext cx="10094976" cy="731520"/>
          </a:xfrm>
          <a:noFill/>
          <a:ln>
            <a:noFill/>
          </a:ln>
        </p:spPr>
        <p:txBody>
          <a:bodyPr lIns="182880" bIns="0" anchor="b" anchorCtr="0"/>
          <a:lstStyle>
            <a:lvl1pPr marL="0" indent="0" algn="l">
              <a:spcBef>
                <a:spcPts val="0"/>
              </a:spcBef>
              <a:buNone/>
              <a:defRPr sz="4200" b="1" cap="all" baseline="0">
                <a:solidFill>
                  <a:schemeClr val="tx2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conclusions</a:t>
            </a:r>
          </a:p>
        </p:txBody>
      </p:sp>
      <p:sp>
        <p:nvSpPr>
          <p:cNvPr id="46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11423845" y="34253007"/>
            <a:ext cx="10094976" cy="731520"/>
          </a:xfrm>
          <a:noFill/>
          <a:ln>
            <a:noFill/>
          </a:ln>
        </p:spPr>
        <p:txBody>
          <a:bodyPr lIns="182880" bIns="0" anchor="b" anchorCtr="0"/>
          <a:lstStyle>
            <a:lvl1pPr marL="0" indent="0" algn="l">
              <a:spcBef>
                <a:spcPts val="0"/>
              </a:spcBef>
              <a:buNone/>
              <a:defRPr sz="4200" b="1" cap="all" baseline="0">
                <a:solidFill>
                  <a:schemeClr val="tx2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next steps</a:t>
            </a:r>
          </a:p>
        </p:txBody>
      </p:sp>
      <p:sp>
        <p:nvSpPr>
          <p:cNvPr id="47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22127541" y="34253007"/>
            <a:ext cx="10094976" cy="731520"/>
          </a:xfrm>
          <a:noFill/>
          <a:ln>
            <a:noFill/>
          </a:ln>
        </p:spPr>
        <p:txBody>
          <a:bodyPr lIns="182880" bIns="0" anchor="b" anchorCtr="0"/>
          <a:lstStyle>
            <a:lvl1pPr marL="0" indent="0" algn="l">
              <a:spcBef>
                <a:spcPts val="0"/>
              </a:spcBef>
              <a:buNone/>
              <a:defRPr sz="4200" b="1" cap="all" baseline="0">
                <a:solidFill>
                  <a:schemeClr val="tx2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references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683867" y="18181791"/>
            <a:ext cx="15425928" cy="731520"/>
          </a:xfrm>
          <a:noFill/>
          <a:ln>
            <a:noFill/>
          </a:ln>
        </p:spPr>
        <p:txBody>
          <a:bodyPr lIns="182880" bIns="0" anchor="b" anchorCtr="0"/>
          <a:lstStyle>
            <a:lvl1pPr marL="0" indent="0" algn="l">
              <a:spcBef>
                <a:spcPts val="0"/>
              </a:spcBef>
              <a:buNone/>
              <a:defRPr sz="4200" b="1" cap="all" baseline="0">
                <a:solidFill>
                  <a:schemeClr val="tx2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section 1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16793835" y="18181791"/>
            <a:ext cx="15462504" cy="731520"/>
          </a:xfrm>
          <a:noFill/>
          <a:ln>
            <a:noFill/>
          </a:ln>
        </p:spPr>
        <p:txBody>
          <a:bodyPr lIns="182880" bIns="0" anchor="b" anchorCtr="0"/>
          <a:lstStyle>
            <a:lvl1pPr marL="0" indent="0" algn="l">
              <a:spcBef>
                <a:spcPts val="0"/>
              </a:spcBef>
              <a:buNone/>
              <a:defRPr sz="4200" b="1" cap="all" baseline="0">
                <a:solidFill>
                  <a:schemeClr val="tx2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section 2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683866" y="7323581"/>
            <a:ext cx="15425928" cy="731520"/>
          </a:xfrm>
          <a:noFill/>
          <a:ln>
            <a:noFill/>
          </a:ln>
        </p:spPr>
        <p:txBody>
          <a:bodyPr lIns="182880" bIns="0" anchor="b" anchorCtr="0"/>
          <a:lstStyle>
            <a:lvl1pPr marL="0" indent="0" algn="l">
              <a:spcBef>
                <a:spcPts val="0"/>
              </a:spcBef>
              <a:buNone/>
              <a:defRPr sz="4200" b="1" cap="all" baseline="0">
                <a:solidFill>
                  <a:schemeClr val="tx2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abstract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16763074" y="7323580"/>
            <a:ext cx="7415784" cy="731520"/>
          </a:xfrm>
          <a:noFill/>
          <a:ln>
            <a:noFill/>
          </a:ln>
        </p:spPr>
        <p:txBody>
          <a:bodyPr lIns="182880" bIns="0" anchor="b" anchorCtr="0"/>
          <a:lstStyle>
            <a:lvl1pPr marL="0" indent="0" algn="l">
              <a:spcBef>
                <a:spcPts val="0"/>
              </a:spcBef>
              <a:buNone/>
              <a:defRPr sz="4200" b="1" cap="all" baseline="0">
                <a:solidFill>
                  <a:schemeClr val="tx2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 add motivation</a:t>
            </a:r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24843831" y="7323580"/>
            <a:ext cx="7415784" cy="731520"/>
          </a:xfrm>
          <a:noFill/>
          <a:ln>
            <a:noFill/>
          </a:ln>
        </p:spPr>
        <p:txBody>
          <a:bodyPr lIns="182880" bIns="0" anchor="b" anchorCtr="0"/>
          <a:lstStyle>
            <a:lvl1pPr marL="0" indent="0" algn="l">
              <a:spcBef>
                <a:spcPts val="0"/>
              </a:spcBef>
              <a:buNone/>
              <a:defRPr sz="4200" b="1" cap="all" baseline="0">
                <a:solidFill>
                  <a:schemeClr val="tx2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methods</a:t>
            </a:r>
          </a:p>
        </p:txBody>
      </p:sp>
      <p:sp>
        <p:nvSpPr>
          <p:cNvPr id="58" name="Picture Placeholder 4"/>
          <p:cNvSpPr>
            <a:spLocks noGrp="1"/>
          </p:cNvSpPr>
          <p:nvPr>
            <p:ph type="pic" sz="quarter" idx="46" hasCustomPrompt="1"/>
          </p:nvPr>
        </p:nvSpPr>
        <p:spPr>
          <a:xfrm>
            <a:off x="17144447" y="28087325"/>
            <a:ext cx="7154104" cy="524958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59" name="Picture Placeholder 4"/>
          <p:cNvSpPr>
            <a:spLocks noGrp="1"/>
          </p:cNvSpPr>
          <p:nvPr>
            <p:ph type="pic" sz="quarter" idx="47" hasCustomPrompt="1"/>
          </p:nvPr>
        </p:nvSpPr>
        <p:spPr>
          <a:xfrm>
            <a:off x="24764203" y="28087325"/>
            <a:ext cx="7154104" cy="524958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5" name="Content Placeholder 2"/>
          <p:cNvSpPr>
            <a:spLocks noGrp="1"/>
          </p:cNvSpPr>
          <p:nvPr>
            <p:ph idx="69" hasCustomPrompt="1"/>
          </p:nvPr>
        </p:nvSpPr>
        <p:spPr>
          <a:xfrm>
            <a:off x="683867" y="34253007"/>
            <a:ext cx="10094976" cy="6680526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3304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824" userDrawn="1">
          <p15:clr>
            <a:srgbClr val="FBAE40"/>
          </p15:clr>
        </p15:guide>
        <p15:guide id="2" pos="103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Colorful-Boxe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ontent Placeholder 2"/>
          <p:cNvSpPr>
            <a:spLocks noGrp="1"/>
          </p:cNvSpPr>
          <p:nvPr>
            <p:ph idx="71" hasCustomPrompt="1"/>
          </p:nvPr>
        </p:nvSpPr>
        <p:spPr>
          <a:xfrm>
            <a:off x="22127541" y="34253007"/>
            <a:ext cx="10094976" cy="6680526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Content Placeholder 2"/>
          <p:cNvSpPr>
            <a:spLocks noGrp="1"/>
          </p:cNvSpPr>
          <p:nvPr>
            <p:ph idx="70" hasCustomPrompt="1"/>
          </p:nvPr>
        </p:nvSpPr>
        <p:spPr>
          <a:xfrm>
            <a:off x="11423845" y="34253007"/>
            <a:ext cx="10094976" cy="6680526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Content Placeholder 2"/>
          <p:cNvSpPr>
            <a:spLocks noGrp="1"/>
          </p:cNvSpPr>
          <p:nvPr>
            <p:ph idx="69" hasCustomPrompt="1"/>
          </p:nvPr>
        </p:nvSpPr>
        <p:spPr>
          <a:xfrm>
            <a:off x="683867" y="34253007"/>
            <a:ext cx="10094976" cy="6680526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68" hasCustomPrompt="1"/>
          </p:nvPr>
        </p:nvSpPr>
        <p:spPr>
          <a:xfrm>
            <a:off x="16793834" y="18181791"/>
            <a:ext cx="15465780" cy="15418085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Content Placeholder 2"/>
          <p:cNvSpPr>
            <a:spLocks noGrp="1"/>
          </p:cNvSpPr>
          <p:nvPr>
            <p:ph idx="67" hasCustomPrompt="1"/>
          </p:nvPr>
        </p:nvSpPr>
        <p:spPr>
          <a:xfrm>
            <a:off x="683867" y="18181791"/>
            <a:ext cx="15423448" cy="15418085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65" hasCustomPrompt="1"/>
          </p:nvPr>
        </p:nvSpPr>
        <p:spPr>
          <a:xfrm>
            <a:off x="16763074" y="7315200"/>
            <a:ext cx="7415784" cy="10213848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idx="66" hasCustomPrompt="1"/>
          </p:nvPr>
        </p:nvSpPr>
        <p:spPr>
          <a:xfrm>
            <a:off x="24843831" y="7315200"/>
            <a:ext cx="7415784" cy="10213848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5" y="-1"/>
            <a:ext cx="32918400" cy="4797880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t" anchorCtr="0">
            <a:noAutofit/>
          </a:bodyPr>
          <a:lstStyle/>
          <a:p>
            <a:pPr algn="r" defTabSz="1624898">
              <a:spcBef>
                <a:spcPts val="2129"/>
              </a:spcBef>
              <a:buFont typeface="Wingdings" pitchFamily="2" charset="2"/>
              <a:buNone/>
            </a:pPr>
            <a:endParaRPr lang="en-US" sz="400" b="1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0" y="4760252"/>
            <a:ext cx="32918400" cy="199183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24898" tIns="162487" rIns="324977" bIns="162487" rtlCol="0" anchor="ctr"/>
          <a:lstStyle/>
          <a:p>
            <a:pPr defTabSz="3249793"/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382919" y="898525"/>
            <a:ext cx="30836961" cy="2631971"/>
          </a:xfrm>
        </p:spPr>
        <p:txBody>
          <a:bodyPr anchor="b"/>
          <a:lstStyle>
            <a:lvl1pPr>
              <a:defRPr lang="en-US" sz="10000" b="1" kern="1200" cap="all" baseline="0" dirty="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11" name="Text Placeholder 10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382918" y="3662893"/>
            <a:ext cx="30817421" cy="855566"/>
          </a:xfrm>
        </p:spPr>
        <p:txBody>
          <a:bodyPr/>
          <a:lstStyle>
            <a:lvl1pPr marL="0" indent="0">
              <a:buNone/>
              <a:defRPr sz="6000">
                <a:solidFill>
                  <a:srgbClr val="FFFFFF"/>
                </a:solidFill>
              </a:defRPr>
            </a:lvl1pPr>
            <a:lvl2pPr marL="1009916" indent="0">
              <a:buNone/>
              <a:defRPr/>
            </a:lvl2pPr>
            <a:lvl3pPr marL="2189089" indent="0">
              <a:buNone/>
              <a:defRPr/>
            </a:lvl3pPr>
            <a:lvl4pPr marL="3255431" indent="0">
              <a:buNone/>
              <a:defRPr/>
            </a:lvl4pPr>
            <a:lvl5pPr marL="4265347" indent="0">
              <a:buNone/>
              <a:defRPr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2" name="Text Placeholder 11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1331120" y="5085098"/>
            <a:ext cx="30558581" cy="1342139"/>
          </a:xfrm>
        </p:spPr>
        <p:txBody>
          <a:bodyPr anchor="ctr" anchorCtr="0"/>
          <a:lstStyle>
            <a:lvl1pPr marL="0" marR="0" indent="0" algn="l" defTabSz="1624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3200" baseline="0">
                <a:solidFill>
                  <a:schemeClr val="bg1"/>
                </a:solidFill>
              </a:defRPr>
            </a:lvl1pPr>
            <a:lvl2pPr marL="1009916" indent="0">
              <a:buNone/>
              <a:defRPr sz="3200"/>
            </a:lvl2pPr>
            <a:lvl3pPr marL="2189096" indent="0">
              <a:buNone/>
              <a:defRPr sz="3200"/>
            </a:lvl3pPr>
            <a:lvl4pPr marL="3255435" indent="0">
              <a:buNone/>
              <a:defRPr sz="3200"/>
            </a:lvl4pPr>
            <a:lvl5pPr marL="4265347" indent="0">
              <a:buNone/>
              <a:defRPr sz="3200"/>
            </a:lvl5pPr>
          </a:lstStyle>
          <a:p>
            <a:pPr lvl="0"/>
            <a:r>
              <a:rPr lang="en-US" dirty="0"/>
              <a:t>Researcher Names</a:t>
            </a:r>
          </a:p>
          <a:p>
            <a:pPr lvl="0"/>
            <a:r>
              <a:rPr lang="en-US" dirty="0"/>
              <a:t>Researcher Names</a:t>
            </a:r>
          </a:p>
          <a:p>
            <a:pPr marL="0" marR="0" lvl="0" indent="0" algn="l" defTabSz="1624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Researcher Names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683866" y="7315200"/>
            <a:ext cx="15426103" cy="10213848"/>
          </a:xfrm>
          <a:ln w="3175" cmpd="sng">
            <a:solidFill>
              <a:schemeClr val="tx1">
                <a:lumMod val="40000"/>
                <a:lumOff val="60000"/>
              </a:schemeClr>
            </a:solidFill>
          </a:ln>
        </p:spPr>
        <p:txBody>
          <a:bodyPr lIns="256002" tIns="768008" rIns="256002" bIns="256002"/>
          <a:lstStyle>
            <a:lvl1pPr marL="347663" indent="-347663">
              <a:lnSpc>
                <a:spcPct val="95000"/>
              </a:lnSpc>
              <a:spcBef>
                <a:spcPts val="1200"/>
              </a:spcBef>
              <a:buFont typeface="Wingdings" pitchFamily="2" charset="2"/>
              <a:buChar char="§"/>
              <a:defRPr sz="3200" b="0" baseline="0">
                <a:solidFill>
                  <a:schemeClr val="tx1">
                    <a:lumMod val="50000"/>
                  </a:schemeClr>
                </a:solidFill>
              </a:defRPr>
            </a:lvl1pPr>
            <a:lvl2pPr marL="852488" indent="-395288">
              <a:lnSpc>
                <a:spcPct val="95000"/>
              </a:lnSpc>
              <a:buFont typeface="Arial" pitchFamily="34" charset="0"/>
              <a:buChar char="−"/>
              <a:defRPr sz="3200"/>
            </a:lvl2pPr>
            <a:lvl3pPr marL="1262063" indent="-288925">
              <a:lnSpc>
                <a:spcPct val="95000"/>
              </a:lnSpc>
              <a:buFont typeface="Arial" pitchFamily="34" charset="0"/>
              <a:buChar char="•"/>
              <a:defRPr sz="3200"/>
            </a:lvl3pPr>
            <a:lvl4pPr marL="1717675" indent="-347663">
              <a:lnSpc>
                <a:spcPct val="95000"/>
              </a:lnSpc>
              <a:buFont typeface="Arial" pitchFamily="34" charset="0"/>
              <a:buChar char="−"/>
              <a:defRPr sz="3200"/>
            </a:lvl4pPr>
            <a:lvl5pPr marL="2057400" indent="-315913">
              <a:lnSpc>
                <a:spcPct val="95000"/>
              </a:lnSpc>
              <a:tabLst/>
              <a:defRPr sz="3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" name="Picture Placeholder 4"/>
          <p:cNvSpPr>
            <a:spLocks noGrp="1"/>
          </p:cNvSpPr>
          <p:nvPr>
            <p:ph type="pic" sz="quarter" idx="44" hasCustomPrompt="1"/>
          </p:nvPr>
        </p:nvSpPr>
        <p:spPr>
          <a:xfrm>
            <a:off x="17059781" y="12636203"/>
            <a:ext cx="6900112" cy="459429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9" name="Picture Placeholder 4"/>
          <p:cNvSpPr>
            <a:spLocks noGrp="1"/>
          </p:cNvSpPr>
          <p:nvPr>
            <p:ph type="pic" sz="quarter" idx="45" hasCustomPrompt="1"/>
          </p:nvPr>
        </p:nvSpPr>
        <p:spPr>
          <a:xfrm>
            <a:off x="25060527" y="12636203"/>
            <a:ext cx="6900112" cy="459429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0" name="Picture Placeholder 4"/>
          <p:cNvSpPr>
            <a:spLocks noGrp="1"/>
          </p:cNvSpPr>
          <p:nvPr>
            <p:ph type="pic" sz="quarter" idx="43" hasCustomPrompt="1"/>
          </p:nvPr>
        </p:nvSpPr>
        <p:spPr>
          <a:xfrm>
            <a:off x="931303" y="21929723"/>
            <a:ext cx="14879692" cy="1140718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9" name="Picture Placeholder 4"/>
          <p:cNvSpPr>
            <a:spLocks noGrp="1"/>
          </p:cNvSpPr>
          <p:nvPr>
            <p:ph type="pic" sz="quarter" idx="48" hasCustomPrompt="1"/>
          </p:nvPr>
        </p:nvSpPr>
        <p:spPr>
          <a:xfrm>
            <a:off x="17144447" y="21949984"/>
            <a:ext cx="7154104" cy="556800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50" name="Picture Placeholder 4"/>
          <p:cNvSpPr>
            <a:spLocks noGrp="1"/>
          </p:cNvSpPr>
          <p:nvPr>
            <p:ph type="pic" sz="quarter" idx="49" hasCustomPrompt="1"/>
          </p:nvPr>
        </p:nvSpPr>
        <p:spPr>
          <a:xfrm>
            <a:off x="24764203" y="21949984"/>
            <a:ext cx="7154104" cy="556800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5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683867" y="34253007"/>
            <a:ext cx="10094976" cy="633984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bIns="0" anchor="ctr"/>
          <a:lstStyle>
            <a:lvl1pPr marL="0" indent="0" algn="ctr">
              <a:spcBef>
                <a:spcPts val="0"/>
              </a:spcBef>
              <a:buNone/>
              <a:defRPr sz="4200" b="1" cap="all" baseline="0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conclusions</a:t>
            </a:r>
          </a:p>
        </p:txBody>
      </p:sp>
      <p:sp>
        <p:nvSpPr>
          <p:cNvPr id="46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11423845" y="34253007"/>
            <a:ext cx="10094976" cy="633984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bIns="0" anchor="ctr"/>
          <a:lstStyle>
            <a:lvl1pPr marL="0" indent="0" algn="ctr">
              <a:spcBef>
                <a:spcPts val="0"/>
              </a:spcBef>
              <a:buNone/>
              <a:defRPr sz="4200" b="1" cap="all" baseline="0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next steps</a:t>
            </a:r>
          </a:p>
        </p:txBody>
      </p:sp>
      <p:sp>
        <p:nvSpPr>
          <p:cNvPr id="47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22127541" y="34253007"/>
            <a:ext cx="10094976" cy="633984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bIns="0" anchor="ctr"/>
          <a:lstStyle>
            <a:lvl1pPr marL="0" indent="0" algn="ctr">
              <a:spcBef>
                <a:spcPts val="0"/>
              </a:spcBef>
              <a:buNone/>
              <a:defRPr sz="4200" b="1" cap="all" baseline="0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references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683867" y="18181791"/>
            <a:ext cx="15425928" cy="630684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bIns="0" anchor="ctr"/>
          <a:lstStyle>
            <a:lvl1pPr marL="0" indent="0" algn="ctr">
              <a:spcBef>
                <a:spcPts val="0"/>
              </a:spcBef>
              <a:buNone/>
              <a:defRPr sz="4200" b="1" cap="all" baseline="0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section 1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16793835" y="18181791"/>
            <a:ext cx="15462504" cy="630684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bIns="0" anchor="ctr"/>
          <a:lstStyle>
            <a:lvl1pPr marL="0" indent="0" algn="ctr">
              <a:spcBef>
                <a:spcPts val="0"/>
              </a:spcBef>
              <a:buNone/>
              <a:defRPr sz="4200" b="1" cap="all" baseline="0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section 2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683866" y="7323581"/>
            <a:ext cx="15425928" cy="630684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bIns="0" anchor="ctr"/>
          <a:lstStyle>
            <a:lvl1pPr marL="0" indent="0" algn="ctr">
              <a:spcBef>
                <a:spcPts val="0"/>
              </a:spcBef>
              <a:buNone/>
              <a:defRPr sz="4200" b="1" cap="all" baseline="0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abstract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16763074" y="7323580"/>
            <a:ext cx="7415784" cy="633984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bIns="0" anchor="ctr"/>
          <a:lstStyle>
            <a:lvl1pPr marL="0" indent="0" algn="ctr">
              <a:spcBef>
                <a:spcPts val="0"/>
              </a:spcBef>
              <a:buNone/>
              <a:defRPr sz="4200" b="1" cap="all" baseline="0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 add motivation</a:t>
            </a:r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24843831" y="7323580"/>
            <a:ext cx="7415784" cy="633984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bIns="0" anchor="ctr"/>
          <a:lstStyle>
            <a:lvl1pPr marL="0" indent="0" algn="ctr">
              <a:spcBef>
                <a:spcPts val="0"/>
              </a:spcBef>
              <a:buNone/>
              <a:defRPr sz="4200" b="1" cap="all" baseline="0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methods</a:t>
            </a:r>
          </a:p>
        </p:txBody>
      </p:sp>
      <p:sp>
        <p:nvSpPr>
          <p:cNvPr id="58" name="Picture Placeholder 4"/>
          <p:cNvSpPr>
            <a:spLocks noGrp="1"/>
          </p:cNvSpPr>
          <p:nvPr>
            <p:ph type="pic" sz="quarter" idx="46" hasCustomPrompt="1"/>
          </p:nvPr>
        </p:nvSpPr>
        <p:spPr>
          <a:xfrm>
            <a:off x="17144447" y="28087325"/>
            <a:ext cx="7154104" cy="524958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59" name="Picture Placeholder 4"/>
          <p:cNvSpPr>
            <a:spLocks noGrp="1"/>
          </p:cNvSpPr>
          <p:nvPr>
            <p:ph type="pic" sz="quarter" idx="47" hasCustomPrompt="1"/>
          </p:nvPr>
        </p:nvSpPr>
        <p:spPr>
          <a:xfrm>
            <a:off x="24764203" y="28087325"/>
            <a:ext cx="7154104" cy="524958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40476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:\Users\amiesen\Desktop\anlrgbpptlogo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0862" y="41500426"/>
            <a:ext cx="5534796" cy="19939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7" y="1757687"/>
            <a:ext cx="30142443" cy="530526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Headline in all caps</a:t>
            </a:r>
            <a:br>
              <a:rPr lang="en-US" dirty="0"/>
            </a:br>
            <a:r>
              <a:rPr lang="en-US" dirty="0"/>
              <a:t>preferred as one or two 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7" y="10879970"/>
            <a:ext cx="30142443" cy="28305761"/>
          </a:xfrm>
          <a:prstGeom prst="rect">
            <a:avLst/>
          </a:prstGeom>
        </p:spPr>
        <p:txBody>
          <a:bodyPr vert="horz" lIns="0" tIns="0" rIns="0" bIns="162526" rtlCol="0">
            <a:noAutofit/>
          </a:bodyPr>
          <a:lstStyle/>
          <a:p>
            <a:pPr lvl="0"/>
            <a:r>
              <a:rPr lang="en-US" dirty="0"/>
              <a:t>Click to add 1st-level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F76EDB-66ED-7140-0BED-7547E3AAE26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5084" y="41867328"/>
            <a:ext cx="9533618" cy="116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5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6" r:id="rId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1625279" rtl="0" eaLnBrk="1" latinLnBrk="0" hangingPunct="1">
        <a:lnSpc>
          <a:spcPct val="95000"/>
        </a:lnSpc>
        <a:spcBef>
          <a:spcPct val="0"/>
        </a:spcBef>
        <a:buNone/>
        <a:defRPr sz="10000" b="1" i="0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615126" indent="-615126" algn="l" defTabSz="1625279" rtl="0" eaLnBrk="1" latinLnBrk="0" hangingPunct="1">
        <a:spcBef>
          <a:spcPts val="2130"/>
        </a:spcBef>
        <a:spcAft>
          <a:spcPts val="0"/>
        </a:spcAft>
        <a:buFont typeface="Wingdings" pitchFamily="2" charset="2"/>
        <a:buChar char="§"/>
        <a:defRPr sz="4600" kern="1200" baseline="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1pPr>
      <a:lvl2pPr marL="1851008" indent="-840855" algn="l" defTabSz="1625279" rtl="0" eaLnBrk="1" latinLnBrk="0" hangingPunct="1">
        <a:spcBef>
          <a:spcPts val="0"/>
        </a:spcBef>
        <a:spcAft>
          <a:spcPts val="0"/>
        </a:spcAft>
        <a:buFont typeface="Arial"/>
        <a:buChar char="–"/>
        <a:defRPr sz="46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2pPr>
      <a:lvl3pPr marL="2855517" indent="-665914" algn="l" defTabSz="1625279" rtl="0" eaLnBrk="1" latinLnBrk="0" hangingPunct="1">
        <a:spcBef>
          <a:spcPts val="0"/>
        </a:spcBef>
        <a:spcAft>
          <a:spcPts val="0"/>
        </a:spcAft>
        <a:buFont typeface="Arial"/>
        <a:buChar char="•"/>
        <a:defRPr sz="46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3865673" indent="-609479" algn="l" defTabSz="1625279" rtl="0" eaLnBrk="1" latinLnBrk="0" hangingPunct="1">
        <a:spcBef>
          <a:spcPts val="0"/>
        </a:spcBef>
        <a:spcAft>
          <a:spcPts val="0"/>
        </a:spcAft>
        <a:buFont typeface="Arial"/>
        <a:buChar char="–"/>
        <a:defRPr sz="43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4875826" indent="-609479" algn="l" defTabSz="1625279" rtl="0" eaLnBrk="1" latinLnBrk="0" hangingPunct="1">
        <a:spcBef>
          <a:spcPts val="0"/>
        </a:spcBef>
        <a:spcAft>
          <a:spcPts val="0"/>
        </a:spcAft>
        <a:buFont typeface="Arial"/>
        <a:buChar char="»"/>
        <a:defRPr sz="43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8939020" indent="-812636" algn="l" defTabSz="1625279" rtl="0" eaLnBrk="1" latinLnBrk="0" hangingPunct="1">
        <a:spcBef>
          <a:spcPct val="20000"/>
        </a:spcBef>
        <a:buFont typeface="Arial"/>
        <a:buChar char="•"/>
        <a:defRPr sz="7100" kern="1200">
          <a:solidFill>
            <a:schemeClr val="tx1"/>
          </a:solidFill>
          <a:latin typeface="+mn-lt"/>
          <a:ea typeface="+mn-ea"/>
          <a:cs typeface="+mn-cs"/>
        </a:defRPr>
      </a:lvl6pPr>
      <a:lvl7pPr marL="10564295" indent="-812636" algn="l" defTabSz="1625279" rtl="0" eaLnBrk="1" latinLnBrk="0" hangingPunct="1">
        <a:spcBef>
          <a:spcPct val="20000"/>
        </a:spcBef>
        <a:buFont typeface="Arial"/>
        <a:buChar char="•"/>
        <a:defRPr sz="7100" kern="1200">
          <a:solidFill>
            <a:schemeClr val="tx1"/>
          </a:solidFill>
          <a:latin typeface="+mn-lt"/>
          <a:ea typeface="+mn-ea"/>
          <a:cs typeface="+mn-cs"/>
        </a:defRPr>
      </a:lvl7pPr>
      <a:lvl8pPr marL="12189574" indent="-812636" algn="l" defTabSz="1625279" rtl="0" eaLnBrk="1" latinLnBrk="0" hangingPunct="1">
        <a:spcBef>
          <a:spcPct val="20000"/>
        </a:spcBef>
        <a:buFont typeface="Arial"/>
        <a:buChar char="•"/>
        <a:defRPr sz="7100" kern="1200">
          <a:solidFill>
            <a:schemeClr val="tx1"/>
          </a:solidFill>
          <a:latin typeface="+mn-lt"/>
          <a:ea typeface="+mn-ea"/>
          <a:cs typeface="+mn-cs"/>
        </a:defRPr>
      </a:lvl8pPr>
      <a:lvl9pPr marL="13814849" indent="-812636" algn="l" defTabSz="1625279" rtl="0" eaLnBrk="1" latinLnBrk="0" hangingPunct="1">
        <a:spcBef>
          <a:spcPct val="20000"/>
        </a:spcBef>
        <a:buFont typeface="Arial"/>
        <a:buChar char="•"/>
        <a:defRPr sz="7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625279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250554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4875826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4pPr>
      <a:lvl5pPr marL="6501105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5pPr>
      <a:lvl6pPr marL="8126380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6pPr>
      <a:lvl7pPr marL="9751659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7pPr>
      <a:lvl8pPr marL="11376934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8pPr>
      <a:lvl9pPr marL="13002210" algn="l" defTabSz="1625279" rtl="0" eaLnBrk="1" latinLnBrk="0" hangingPunct="1">
        <a:defRPr sz="6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jpeg"/><Relationship Id="rId26" Type="http://schemas.openxmlformats.org/officeDocument/2006/relationships/image" Target="../media/image25.png"/><Relationship Id="rId3" Type="http://schemas.openxmlformats.org/officeDocument/2006/relationships/image" Target="../media/image3.png"/><Relationship Id="rId21" Type="http://schemas.openxmlformats.org/officeDocument/2006/relationships/image" Target="../media/image20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hyperlink" Target="https://blog.aspb.org/agency-update-nsf-seeks-members-for-stem-education-advisory-panel/" TargetMode="External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10.png"/><Relationship Id="rId19" Type="http://schemas.openxmlformats.org/officeDocument/2006/relationships/image" Target="../media/image19.jpe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14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5C324-006A-EF5D-AFD8-3F73CC50820E}"/>
              </a:ext>
            </a:extLst>
          </p:cNvPr>
          <p:cNvSpPr>
            <a:spLocks noGrp="1"/>
          </p:cNvSpPr>
          <p:nvPr>
            <p:ph idx="65"/>
          </p:nvPr>
        </p:nvSpPr>
        <p:spPr>
          <a:xfrm>
            <a:off x="16763074" y="7315200"/>
            <a:ext cx="7415784" cy="1021384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Content Placeholder 70"/>
          <p:cNvSpPr>
            <a:spLocks noGrp="1"/>
          </p:cNvSpPr>
          <p:nvPr>
            <p:ph idx="71"/>
          </p:nvPr>
        </p:nvSpPr>
        <p:spPr/>
        <p:txBody>
          <a:bodyPr/>
          <a:lstStyle/>
          <a:p>
            <a:r>
              <a:rPr lang="en-US" dirty="0"/>
              <a:t>Gilray, T., </a:t>
            </a:r>
            <a:r>
              <a:rPr lang="en-US" dirty="0" err="1"/>
              <a:t>Sahebolamri</a:t>
            </a:r>
            <a:r>
              <a:rPr lang="en-US" dirty="0"/>
              <a:t>, A., Sun, Y., </a:t>
            </a:r>
            <a:r>
              <a:rPr lang="en-US" dirty="0" err="1"/>
              <a:t>Kunapaneni</a:t>
            </a:r>
            <a:r>
              <a:rPr lang="en-US" dirty="0"/>
              <a:t>, S., Kumar, S., &amp; Micinski, K. (2024). </a:t>
            </a:r>
            <a:r>
              <a:rPr lang="en-US" dirty="0" err="1"/>
              <a:t>Datalog</a:t>
            </a:r>
            <a:r>
              <a:rPr lang="en-US" dirty="0"/>
              <a:t> with First-Class Facts. </a:t>
            </a:r>
            <a:r>
              <a:rPr lang="en-US" i="1" dirty="0"/>
              <a:t>VLDB</a:t>
            </a:r>
            <a:r>
              <a:rPr lang="en-US" dirty="0"/>
              <a:t>, </a:t>
            </a:r>
            <a:r>
              <a:rPr lang="en-US" i="1" dirty="0"/>
              <a:t>18</a:t>
            </a:r>
            <a:r>
              <a:rPr lang="en-US" dirty="0"/>
              <a:t>(3), 651-665.</a:t>
            </a:r>
          </a:p>
          <a:p>
            <a:r>
              <a:rPr lang="en-US" dirty="0"/>
              <a:t>Jordan, H., Scholz, B., &amp; Subotić, P. (2016, July). Soufflé: On synthesis of program analyzers. In </a:t>
            </a:r>
            <a:r>
              <a:rPr lang="en-US" i="1" dirty="0"/>
              <a:t>International Conference on Computer Aided Verification</a:t>
            </a:r>
            <a:r>
              <a:rPr lang="en-US" dirty="0"/>
              <a:t> (pp. 422-430).</a:t>
            </a:r>
          </a:p>
        </p:txBody>
      </p:sp>
      <p:sp>
        <p:nvSpPr>
          <p:cNvPr id="70" name="Content Placeholder 69"/>
          <p:cNvSpPr>
            <a:spLocks noGrp="1"/>
          </p:cNvSpPr>
          <p:nvPr>
            <p:ph idx="70"/>
          </p:nvPr>
        </p:nvSpPr>
        <p:spPr/>
        <p:txBody>
          <a:bodyPr/>
          <a:lstStyle/>
          <a:p>
            <a:r>
              <a:rPr lang="en-US" dirty="0">
                <a:ea typeface="Open Sans"/>
                <a:cs typeface="Open Sans"/>
              </a:rPr>
              <a:t>Add spatial and temporal load balancing</a:t>
            </a:r>
            <a:endParaRPr lang="en-US" dirty="0">
              <a:ea typeface="Open Sans"/>
              <a:cs typeface="Arial"/>
            </a:endParaRPr>
          </a:p>
          <a:p>
            <a:r>
              <a:rPr lang="en-US" dirty="0">
                <a:ea typeface="Open Sans"/>
                <a:cs typeface="Open Sans"/>
              </a:rPr>
              <a:t>Develop GPU-Aware HIP and </a:t>
            </a:r>
            <a:r>
              <a:rPr lang="en-US" dirty="0" err="1">
                <a:ea typeface="Open Sans"/>
                <a:cs typeface="Open Sans"/>
              </a:rPr>
              <a:t>OneAPI</a:t>
            </a:r>
            <a:r>
              <a:rPr lang="en-US" dirty="0">
                <a:ea typeface="Open Sans"/>
                <a:cs typeface="Open Sans"/>
              </a:rPr>
              <a:t> implementations</a:t>
            </a:r>
            <a:endParaRPr lang="en-US" dirty="0">
              <a:ea typeface="Open Sans"/>
              <a:cs typeface="Arial"/>
            </a:endParaRPr>
          </a:p>
          <a:p>
            <a:r>
              <a:rPr lang="en-US" dirty="0">
                <a:ea typeface="Open Sans"/>
                <a:cs typeface="Open Sans"/>
              </a:rPr>
              <a:t>Benchmark on </a:t>
            </a:r>
            <a:r>
              <a:rPr lang="en-US" dirty="0" err="1">
                <a:ea typeface="Open Sans"/>
                <a:cs typeface="Open Sans"/>
              </a:rPr>
              <a:t>Neurosymbolic</a:t>
            </a:r>
            <a:r>
              <a:rPr lang="en-US" dirty="0">
                <a:ea typeface="Open Sans"/>
                <a:cs typeface="Open Sans"/>
              </a:rPr>
              <a:t> programming applications</a:t>
            </a:r>
          </a:p>
          <a:p>
            <a:r>
              <a:rPr lang="en-US" dirty="0">
                <a:ea typeface="Open Sans"/>
                <a:cs typeface="Open Sans"/>
              </a:rPr>
              <a:t>Extend </a:t>
            </a:r>
            <a:r>
              <a:rPr lang="en-US" b="1" dirty="0" err="1">
                <a:ea typeface="Open Sans"/>
                <a:cs typeface="Open Sans"/>
              </a:rPr>
              <a:t>Powerlog</a:t>
            </a:r>
            <a:r>
              <a:rPr lang="en-US" dirty="0">
                <a:ea typeface="Open Sans"/>
                <a:cs typeface="Open Sans"/>
              </a:rPr>
              <a:t> to multi-node environment</a:t>
            </a:r>
          </a:p>
          <a:p>
            <a:r>
              <a:rPr lang="en-US" dirty="0">
                <a:ea typeface="Open Sans"/>
                <a:cs typeface="Open Sans"/>
              </a:rPr>
              <a:t>Augment </a:t>
            </a:r>
            <a:r>
              <a:rPr lang="en-US" i="1" dirty="0">
                <a:ea typeface="Open Sans"/>
                <a:cs typeface="Open Sans"/>
              </a:rPr>
              <a:t>Tuples/Joule</a:t>
            </a:r>
            <a:r>
              <a:rPr lang="en-US" dirty="0">
                <a:ea typeface="Open Sans"/>
                <a:cs typeface="Open Sans"/>
              </a:rPr>
              <a:t> metric with </a:t>
            </a:r>
            <a:r>
              <a:rPr lang="en-US" dirty="0" err="1">
                <a:ea typeface="Open Sans"/>
                <a:cs typeface="Open Sans"/>
              </a:rPr>
              <a:t>Datalog</a:t>
            </a:r>
            <a:r>
              <a:rPr lang="en-US" dirty="0">
                <a:ea typeface="Open Sans"/>
                <a:cs typeface="Open Sans"/>
              </a:rPr>
              <a:t>-level counters (work/iteration, duplicate ratio, tuples materialized) and system-level metrics (HBM/DRAM bandwidth, cache hits/misses)</a:t>
            </a:r>
          </a:p>
        </p:txBody>
      </p:sp>
      <p:sp>
        <p:nvSpPr>
          <p:cNvPr id="69" name="Content Placeholder 68"/>
          <p:cNvSpPr>
            <a:spLocks noGrp="1"/>
          </p:cNvSpPr>
          <p:nvPr>
            <p:ph idx="69"/>
          </p:nvPr>
        </p:nvSpPr>
        <p:spPr/>
        <p:txBody>
          <a:bodyPr/>
          <a:lstStyle/>
          <a:p>
            <a:endParaRPr lang="en-US" dirty="0">
              <a:ea typeface="Open Sans"/>
              <a:cs typeface="Open Sans"/>
            </a:endParaRPr>
          </a:p>
          <a:p>
            <a:endParaRPr lang="en-US" dirty="0">
              <a:ea typeface="Open Sans"/>
              <a:cs typeface="Open Sans"/>
            </a:endParaRPr>
          </a:p>
          <a:p>
            <a:endParaRPr lang="en-US" dirty="0">
              <a:ea typeface="Open Sans"/>
              <a:cs typeface="Open Sans"/>
            </a:endParaRPr>
          </a:p>
          <a:p>
            <a:endParaRPr lang="en-US" dirty="0">
              <a:ea typeface="Open Sans"/>
              <a:cs typeface="Open Sans"/>
            </a:endParaRPr>
          </a:p>
          <a:p>
            <a:endParaRPr lang="en-US" dirty="0">
              <a:ea typeface="Open Sans"/>
              <a:cs typeface="Open Sans"/>
            </a:endParaRPr>
          </a:p>
          <a:p>
            <a:r>
              <a:rPr lang="en-US" dirty="0">
                <a:ea typeface="Open Sans"/>
                <a:cs typeface="Open Sans"/>
              </a:rPr>
              <a:t>Introduces novel GPU-Aware communication for scalable recursive query evaluation</a:t>
            </a:r>
            <a:endParaRPr lang="en-US" dirty="0">
              <a:ea typeface="Open Sans"/>
              <a:cs typeface="Arial"/>
            </a:endParaRPr>
          </a:p>
          <a:p>
            <a:r>
              <a:rPr lang="en-US" dirty="0">
                <a:ea typeface="Open Sans"/>
                <a:cs typeface="Open Sans"/>
              </a:rPr>
              <a:t>Supports recursive aggregation for </a:t>
            </a:r>
            <a:r>
              <a:rPr lang="en-US" dirty="0" err="1">
                <a:ea typeface="Open Sans"/>
                <a:cs typeface="Open Sans"/>
              </a:rPr>
              <a:t>Datalog</a:t>
            </a:r>
            <a:r>
              <a:rPr lang="en-US" dirty="0">
                <a:ea typeface="Open Sans"/>
                <a:cs typeface="Open Sans"/>
              </a:rPr>
              <a:t> rules using high-throughput GPU kernels</a:t>
            </a:r>
          </a:p>
          <a:p>
            <a:r>
              <a:rPr lang="en-US" dirty="0">
                <a:ea typeface="Open Sans"/>
                <a:cs typeface="Open Sans"/>
              </a:rPr>
              <a:t>Power profiling of GPU-based </a:t>
            </a:r>
            <a:r>
              <a:rPr lang="en-US" dirty="0" err="1">
                <a:ea typeface="Open Sans"/>
                <a:cs typeface="Open Sans"/>
              </a:rPr>
              <a:t>Datalog</a:t>
            </a:r>
            <a:r>
              <a:rPr lang="en-US" dirty="0">
                <a:ea typeface="Open Sans"/>
                <a:cs typeface="Open Sans"/>
              </a:rPr>
              <a:t> engines</a:t>
            </a:r>
          </a:p>
        </p:txBody>
      </p:sp>
      <p:sp>
        <p:nvSpPr>
          <p:cNvPr id="68" name="Content Placeholder 67"/>
          <p:cNvSpPr>
            <a:spLocks noGrp="1"/>
          </p:cNvSpPr>
          <p:nvPr>
            <p:ph idx="6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Evaluates energy-efficiency of SOTA GPU-powered engines on Polaris</a:t>
            </a:r>
          </a:p>
          <a:p>
            <a:pPr marL="0" indent="0" algn="ctr">
              <a:buNone/>
            </a:pPr>
            <a:r>
              <a:rPr lang="en-US" b="1" dirty="0">
                <a:ea typeface="+mn-lt"/>
                <a:cs typeface="+mn-lt"/>
              </a:rPr>
              <a:t>					</a:t>
            </a:r>
          </a:p>
          <a:p>
            <a:pPr marL="0" indent="0" algn="ctr">
              <a:buNone/>
            </a:pPr>
            <a:r>
              <a:rPr lang="en-US" b="1" dirty="0">
                <a:ea typeface="+mn-lt"/>
                <a:cs typeface="+mn-lt"/>
              </a:rPr>
              <a:t>					</a:t>
            </a:r>
            <a:endParaRPr lang="en-US" sz="800" b="1" dirty="0">
              <a:ea typeface="+mn-lt"/>
              <a:cs typeface="+mn-lt"/>
            </a:endParaRPr>
          </a:p>
          <a:p>
            <a:pPr marL="0" indent="0" algn="ctr">
              <a:buNone/>
            </a:pPr>
            <a:endParaRPr lang="en-US" sz="8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Open Sans"/>
                <a:cs typeface="Open Sans"/>
              </a:rPr>
              <a:t>where, </a:t>
            </a:r>
            <a:r>
              <a:rPr lang="en-US" dirty="0">
                <a:ea typeface="+mn-lt"/>
                <a:cs typeface="+mn-lt"/>
              </a:rPr>
              <a:t>E=total energy, N=# of samples, P</a:t>
            </a:r>
            <a:r>
              <a:rPr lang="en-US" baseline="-25000" dirty="0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=power draw at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Δt</a:t>
            </a:r>
            <a:r>
              <a:rPr lang="en-US" baseline="-25000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=time between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, i+1</a:t>
            </a:r>
            <a:endParaRPr lang="en-US" dirty="0">
              <a:ea typeface="Open Sans"/>
              <a:cs typeface="Open Sans"/>
            </a:endParaRPr>
          </a:p>
        </p:txBody>
      </p:sp>
      <p:sp>
        <p:nvSpPr>
          <p:cNvPr id="67" name="Content Placeholder 66"/>
          <p:cNvSpPr>
            <a:spLocks noGrp="1"/>
          </p:cNvSpPr>
          <p:nvPr>
            <p:ph idx="6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We evaluate </a:t>
            </a:r>
            <a:r>
              <a:rPr lang="en-US" b="1" dirty="0" err="1">
                <a:ea typeface="+mn-lt"/>
                <a:cs typeface="+mn-lt"/>
              </a:rPr>
              <a:t>MNMGDatalog</a:t>
            </a:r>
            <a:r>
              <a:rPr lang="en-US" dirty="0">
                <a:ea typeface="+mn-lt"/>
                <a:cs typeface="+mn-lt"/>
              </a:rPr>
              <a:t> against state-of-the-art </a:t>
            </a:r>
            <a:r>
              <a:rPr lang="en-US" i="1" dirty="0">
                <a:ea typeface="+mn-lt"/>
                <a:cs typeface="+mn-lt"/>
              </a:rPr>
              <a:t>single-GPU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i="1" dirty="0">
                <a:ea typeface="+mn-lt"/>
                <a:cs typeface="+mn-lt"/>
              </a:rPr>
              <a:t>shared-memory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i="1" dirty="0">
                <a:ea typeface="+mn-lt"/>
                <a:cs typeface="+mn-lt"/>
              </a:rPr>
              <a:t>distributed multi-node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Datalog</a:t>
            </a:r>
            <a:r>
              <a:rPr lang="en-US" dirty="0">
                <a:ea typeface="+mn-lt"/>
                <a:cs typeface="+mn-lt"/>
              </a:rPr>
              <a:t> engines up to 32 NVIDIA A100 GPUs</a:t>
            </a:r>
          </a:p>
        </p:txBody>
      </p:sp>
      <p:sp>
        <p:nvSpPr>
          <p:cNvPr id="66" name="Content Placeholder 65"/>
          <p:cNvSpPr>
            <a:spLocks noGrp="1"/>
          </p:cNvSpPr>
          <p:nvPr>
            <p:ph idx="6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>
                <a:ea typeface="+mn-lt"/>
                <a:cs typeface="+mn-lt"/>
              </a:rPr>
              <a:t>MNMGDatalog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uses radix-hash partitioning and non-uniform all-to-all communication with GPU-aware hash tables for efficient tuple materialization </a:t>
            </a:r>
            <a:endParaRPr lang="en-US" dirty="0"/>
          </a:p>
        </p:txBody>
      </p:sp>
      <p:sp>
        <p:nvSpPr>
          <p:cNvPr id="46" name="Title 4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Scalable Multi-Node Multi-GPU Datalog Engine with Energy-Aware Profiling</a:t>
            </a:r>
          </a:p>
        </p:txBody>
      </p:sp>
      <p:sp>
        <p:nvSpPr>
          <p:cNvPr id="49" name="Text Placeholder 48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Accelerating declarative analytics on HPC systems</a:t>
            </a:r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Ahmedur Rahman Shovon, Mathematics and Computer Science Division, Argonne National Laboratory</a:t>
            </a:r>
          </a:p>
          <a:p>
            <a:r>
              <a:rPr lang="en-US" dirty="0"/>
              <a:t>Sidharth Kumar, University of Illinois Chicago</a:t>
            </a:r>
          </a:p>
        </p:txBody>
      </p:sp>
      <p:sp>
        <p:nvSpPr>
          <p:cNvPr id="47" name="Content Placeholder 46"/>
          <p:cNvSpPr>
            <a:spLocks noGrp="1"/>
          </p:cNvSpPr>
          <p:nvPr>
            <p:ph idx="1"/>
          </p:nvPr>
        </p:nvSpPr>
        <p:spPr>
          <a:ln>
            <a:solidFill>
              <a:schemeClr val="tx1">
                <a:lumMod val="40000"/>
                <a:lumOff val="60000"/>
              </a:schemeClr>
            </a:solidFill>
          </a:ln>
        </p:spPr>
        <p:txBody>
          <a:bodyPr/>
          <a:lstStyle/>
          <a:p>
            <a:r>
              <a:rPr lang="en-US" b="1" dirty="0" err="1"/>
              <a:t>Datalog</a:t>
            </a:r>
            <a:r>
              <a:rPr lang="en-US" dirty="0"/>
              <a:t> simplifies large-scale analytics by expressing recursive logic with concise, declarative rules</a:t>
            </a:r>
          </a:p>
          <a:p>
            <a:endParaRPr lang="en-US" dirty="0">
              <a:ea typeface="Open Sans"/>
              <a:cs typeface="Open Sans"/>
            </a:endParaRPr>
          </a:p>
          <a:p>
            <a:pPr marL="0" indent="0">
              <a:buNone/>
            </a:pPr>
            <a:endParaRPr lang="en-US" dirty="0">
              <a:ea typeface="Open Sans"/>
              <a:cs typeface="Open Sans"/>
            </a:endParaRPr>
          </a:p>
          <a:p>
            <a:pPr marL="0" indent="0">
              <a:buNone/>
            </a:pPr>
            <a:endParaRPr lang="en-US" dirty="0">
              <a:ea typeface="Open Sans"/>
              <a:cs typeface="Open Sans"/>
            </a:endParaRPr>
          </a:p>
          <a:p>
            <a:pPr marL="0" indent="0">
              <a:buNone/>
            </a:pPr>
            <a:endParaRPr lang="en-US" dirty="0">
              <a:ea typeface="Open Sans"/>
              <a:cs typeface="Open Sans"/>
            </a:endParaRPr>
          </a:p>
          <a:p>
            <a:r>
              <a:rPr lang="en-US" dirty="0">
                <a:ea typeface="Open Sans"/>
                <a:cs typeface="Open Sans"/>
              </a:rPr>
              <a:t>The rules are compiled down to </a:t>
            </a:r>
            <a:r>
              <a:rPr lang="en-US" b="1" dirty="0">
                <a:ea typeface="Open Sans"/>
                <a:cs typeface="Open Sans"/>
              </a:rPr>
              <a:t>iterative relational algebra</a:t>
            </a:r>
          </a:p>
          <a:p>
            <a:endParaRPr lang="en-US" b="1" dirty="0">
              <a:ea typeface="Open Sans"/>
              <a:cs typeface="Open Sans"/>
            </a:endParaRPr>
          </a:p>
          <a:p>
            <a:r>
              <a:rPr lang="en-US" dirty="0" err="1"/>
              <a:t>Datalog</a:t>
            </a:r>
            <a:r>
              <a:rPr lang="en-US" dirty="0"/>
              <a:t> executes queries iteratively until a fixed point is reached, making it well-suited for </a:t>
            </a:r>
            <a:r>
              <a:rPr lang="en-US" b="1" dirty="0"/>
              <a:t>graph mining</a:t>
            </a:r>
            <a:r>
              <a:rPr lang="en-US" dirty="0"/>
              <a:t>, </a:t>
            </a:r>
            <a:r>
              <a:rPr lang="en-US" b="1" dirty="0"/>
              <a:t>deductive databases</a:t>
            </a:r>
            <a:r>
              <a:rPr lang="en-US" dirty="0"/>
              <a:t>, and </a:t>
            </a:r>
            <a:r>
              <a:rPr lang="en-US" b="1" dirty="0"/>
              <a:t>symbolic AI</a:t>
            </a:r>
            <a:r>
              <a:rPr lang="en-US" dirty="0"/>
              <a:t> </a:t>
            </a:r>
            <a:endParaRPr lang="en-US" dirty="0">
              <a:ea typeface="Open Sans"/>
              <a:cs typeface="Open Sans"/>
            </a:endParaRPr>
          </a:p>
          <a:p>
            <a:r>
              <a:rPr lang="en-US" b="1" dirty="0"/>
              <a:t>Parallelizing</a:t>
            </a:r>
            <a:r>
              <a:rPr lang="en-US" dirty="0"/>
              <a:t> these iterative relational operations on modern accelerators can greatly improve the performance of declarative analytics</a:t>
            </a:r>
          </a:p>
          <a:p>
            <a:r>
              <a:rPr lang="en-US" b="1" dirty="0" err="1"/>
              <a:t>MNMGDatalog</a:t>
            </a:r>
            <a:r>
              <a:rPr lang="en-US" dirty="0"/>
              <a:t> is the first </a:t>
            </a:r>
            <a:r>
              <a:rPr lang="en-US" i="1" dirty="0"/>
              <a:t>multi-node, multi-GPU </a:t>
            </a:r>
            <a:r>
              <a:rPr lang="en-US" i="1" dirty="0" err="1"/>
              <a:t>Datalog</a:t>
            </a:r>
            <a:r>
              <a:rPr lang="en-US" i="1" dirty="0"/>
              <a:t> engine</a:t>
            </a:r>
            <a:r>
              <a:rPr lang="en-US" dirty="0"/>
              <a:t> built on CUDA-Aware MPI</a:t>
            </a:r>
          </a:p>
          <a:p>
            <a:r>
              <a:rPr lang="en-US" dirty="0"/>
              <a:t>Achieves up to </a:t>
            </a:r>
            <a:r>
              <a:rPr lang="en-US" b="1" dirty="0"/>
              <a:t>32× speedup</a:t>
            </a:r>
            <a:r>
              <a:rPr lang="en-US" dirty="0"/>
              <a:t> over distributed CPU-based engines on </a:t>
            </a:r>
            <a:r>
              <a:rPr lang="en-US" b="1" dirty="0"/>
              <a:t>Polaris</a:t>
            </a:r>
            <a:endParaRPr lang="en-US" dirty="0"/>
          </a:p>
          <a:p>
            <a:r>
              <a:rPr lang="en-US" b="1" dirty="0" err="1"/>
              <a:t>Powerlog</a:t>
            </a:r>
            <a:r>
              <a:rPr lang="en-US" dirty="0"/>
              <a:t> enables GPU-level </a:t>
            </a:r>
            <a:r>
              <a:rPr lang="en-US" i="1" dirty="0"/>
              <a:t>energy profiling</a:t>
            </a:r>
            <a:r>
              <a:rPr lang="en-US" dirty="0"/>
              <a:t> for declarative workloads</a:t>
            </a:r>
            <a:endParaRPr lang="en-US" dirty="0">
              <a:ea typeface="Open Sans"/>
              <a:cs typeface="Open Sans"/>
            </a:endParaRPr>
          </a:p>
        </p:txBody>
      </p:sp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6C439925-AF17-7317-7ABF-E9AA56A97581}"/>
              </a:ext>
            </a:extLst>
          </p:cNvPr>
          <p:cNvPicPr>
            <a:picLocks noGrp="1" noChangeAspect="1"/>
          </p:cNvPicPr>
          <p:nvPr>
            <p:ph type="pic" sz="quarter" idx="44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88504" y="9076336"/>
            <a:ext cx="2198548" cy="2436229"/>
          </a:xfrm>
        </p:spPr>
      </p:pic>
      <p:pic>
        <p:nvPicPr>
          <p:cNvPr id="35" name="Picture Placeholder 34">
            <a:extLst>
              <a:ext uri="{FF2B5EF4-FFF2-40B4-BE49-F238E27FC236}">
                <a16:creationId xmlns:a16="http://schemas.microsoft.com/office/drawing/2014/main" id="{72325C85-C29E-7ED5-307D-07E3082195C1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2528" y="9200366"/>
            <a:ext cx="2036414" cy="2156203"/>
          </a:xfrm>
        </p:spPr>
      </p:pic>
      <p:sp>
        <p:nvSpPr>
          <p:cNvPr id="62" name="Text Placeholder 61"/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3" name="Text Placeholder 62"/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en-US" dirty="0"/>
              <a:t>Future plan</a:t>
            </a:r>
          </a:p>
        </p:txBody>
      </p:sp>
      <p:sp>
        <p:nvSpPr>
          <p:cNvPr id="64" name="Text Placeholder 63"/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58" name="Text Placeholder 57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 dirty="0" err="1"/>
              <a:t>MNMGDatalog</a:t>
            </a:r>
            <a:r>
              <a:rPr lang="en-US" dirty="0"/>
              <a:t> performance evaluation</a:t>
            </a:r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rPr lang="en-US" dirty="0" err="1"/>
              <a:t>Powerlog</a:t>
            </a:r>
            <a:r>
              <a:rPr lang="en-US" dirty="0"/>
              <a:t> for energy profiling</a:t>
            </a:r>
          </a:p>
        </p:txBody>
      </p:sp>
      <p:sp>
        <p:nvSpPr>
          <p:cNvPr id="57" name="Text Placeholder 56"/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61" name="Text Placeholder 60"/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0A5BBD-47FB-0389-6800-DA4E0AC705AF}"/>
              </a:ext>
            </a:extLst>
          </p:cNvPr>
          <p:cNvSpPr txBox="1"/>
          <p:nvPr/>
        </p:nvSpPr>
        <p:spPr>
          <a:xfrm>
            <a:off x="4800520" y="9455607"/>
            <a:ext cx="8387984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Consolas"/>
              </a:rPr>
              <a:t>TC(x, y) :- Edge(x, y).</a:t>
            </a:r>
          </a:p>
          <a:p>
            <a:r>
              <a:rPr lang="en-US" sz="3200" dirty="0">
                <a:latin typeface="Consolas"/>
              </a:rPr>
              <a:t>TC(x, z) :- TC(x, y), Edge(y, z).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03EB3F3-6EAC-0743-573A-0F28ED894A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6972" y="12034167"/>
            <a:ext cx="7337237" cy="91401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76EB4A2-686F-4CAF-C9C0-FAAF5E32081D}"/>
              </a:ext>
            </a:extLst>
          </p:cNvPr>
          <p:cNvSpPr txBox="1"/>
          <p:nvPr/>
        </p:nvSpPr>
        <p:spPr>
          <a:xfrm>
            <a:off x="3232957" y="10771489"/>
            <a:ext cx="99555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 err="1"/>
              <a:t>Datalog</a:t>
            </a:r>
            <a:r>
              <a:rPr lang="en-US" sz="2800" i="1" dirty="0"/>
              <a:t> rules to compute Transitive Closure (TC) of a relation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0AA40D9-FC2C-3E07-F1E6-22BBD0251A0C}"/>
              </a:ext>
            </a:extLst>
          </p:cNvPr>
          <p:cNvGrpSpPr/>
          <p:nvPr/>
        </p:nvGrpSpPr>
        <p:grpSpPr>
          <a:xfrm>
            <a:off x="20663887" y="16241306"/>
            <a:ext cx="3413843" cy="438912"/>
            <a:chOff x="5624073" y="25892533"/>
            <a:chExt cx="4832528" cy="461665"/>
          </a:xfrm>
        </p:grpSpPr>
        <p:sp>
          <p:nvSpPr>
            <p:cNvPr id="40" name="Rectangle: Rounded Corners 994">
              <a:extLst>
                <a:ext uri="{FF2B5EF4-FFF2-40B4-BE49-F238E27FC236}">
                  <a16:creationId xmlns:a16="http://schemas.microsoft.com/office/drawing/2014/main" id="{98AB7E24-5DCF-B4BE-B6CB-3A1B9759FC70}"/>
                </a:ext>
              </a:extLst>
            </p:cNvPr>
            <p:cNvSpPr/>
            <p:nvPr/>
          </p:nvSpPr>
          <p:spPr>
            <a:xfrm>
              <a:off x="5624073" y="25892533"/>
              <a:ext cx="4832528" cy="461665"/>
            </a:xfrm>
            <a:prstGeom prst="round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Data representation</a:t>
              </a:r>
              <a:endParaRPr 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433C8A9-6B8B-E825-8627-FAF974A4EBEB}"/>
                </a:ext>
              </a:extLst>
            </p:cNvPr>
            <p:cNvSpPr/>
            <p:nvPr/>
          </p:nvSpPr>
          <p:spPr>
            <a:xfrm>
              <a:off x="5672448" y="25921561"/>
              <a:ext cx="516415" cy="403946"/>
            </a:xfrm>
            <a:prstGeom prst="ellipse">
              <a:avLst/>
            </a:prstGeom>
            <a:ln w="28575"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dirty="0"/>
                <a:t>2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BC32D23-9BAA-A92B-058D-AA008D1FA348}"/>
              </a:ext>
            </a:extLst>
          </p:cNvPr>
          <p:cNvGrpSpPr/>
          <p:nvPr/>
        </p:nvGrpSpPr>
        <p:grpSpPr>
          <a:xfrm>
            <a:off x="16886602" y="16821761"/>
            <a:ext cx="3688753" cy="438912"/>
            <a:chOff x="5624073" y="25892533"/>
            <a:chExt cx="4832528" cy="461665"/>
          </a:xfrm>
        </p:grpSpPr>
        <p:sp>
          <p:nvSpPr>
            <p:cNvPr id="43" name="Rectangle: Rounded Corners 998">
              <a:extLst>
                <a:ext uri="{FF2B5EF4-FFF2-40B4-BE49-F238E27FC236}">
                  <a16:creationId xmlns:a16="http://schemas.microsoft.com/office/drawing/2014/main" id="{66A12E7A-DF02-CE1F-687F-13814AB1E29F}"/>
                </a:ext>
              </a:extLst>
            </p:cNvPr>
            <p:cNvSpPr/>
            <p:nvPr/>
          </p:nvSpPr>
          <p:spPr>
            <a:xfrm>
              <a:off x="5624073" y="25892533"/>
              <a:ext cx="4832528" cy="461665"/>
            </a:xfrm>
            <a:prstGeom prst="round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Efficient communication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7C14023-DEDD-E66D-AF44-3FD59C028B44}"/>
                </a:ext>
              </a:extLst>
            </p:cNvPr>
            <p:cNvSpPr/>
            <p:nvPr/>
          </p:nvSpPr>
          <p:spPr>
            <a:xfrm>
              <a:off x="5672448" y="25921561"/>
              <a:ext cx="595112" cy="403946"/>
            </a:xfrm>
            <a:prstGeom prst="ellipse">
              <a:avLst/>
            </a:prstGeom>
            <a:ln w="28575"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dirty="0"/>
                <a:t>3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33AF788-6179-B148-9E05-A38D5E22DADE}"/>
              </a:ext>
            </a:extLst>
          </p:cNvPr>
          <p:cNvGrpSpPr/>
          <p:nvPr/>
        </p:nvGrpSpPr>
        <p:grpSpPr>
          <a:xfrm>
            <a:off x="20663887" y="16821110"/>
            <a:ext cx="3413843" cy="438912"/>
            <a:chOff x="5624072" y="25892533"/>
            <a:chExt cx="5144638" cy="461665"/>
          </a:xfrm>
        </p:grpSpPr>
        <p:sp>
          <p:nvSpPr>
            <p:cNvPr id="72" name="Rectangle: Rounded Corners 1001">
              <a:extLst>
                <a:ext uri="{FF2B5EF4-FFF2-40B4-BE49-F238E27FC236}">
                  <a16:creationId xmlns:a16="http://schemas.microsoft.com/office/drawing/2014/main" id="{B53E5CFE-E10E-EA1C-DA42-F32499A04594}"/>
                </a:ext>
              </a:extLst>
            </p:cNvPr>
            <p:cNvSpPr/>
            <p:nvPr/>
          </p:nvSpPr>
          <p:spPr>
            <a:xfrm>
              <a:off x="5624072" y="25892533"/>
              <a:ext cx="5144638" cy="461665"/>
            </a:xfrm>
            <a:prstGeom prst="round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Tuple materialization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8BF8BC76-135A-B09C-4C08-02AA15A054F0}"/>
                </a:ext>
              </a:extLst>
            </p:cNvPr>
            <p:cNvSpPr/>
            <p:nvPr/>
          </p:nvSpPr>
          <p:spPr>
            <a:xfrm>
              <a:off x="5672447" y="25921561"/>
              <a:ext cx="552892" cy="403946"/>
            </a:xfrm>
            <a:prstGeom prst="ellipse">
              <a:avLst/>
            </a:prstGeom>
            <a:ln w="28575"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dirty="0"/>
                <a:t>4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F4F7D0C-20A3-D2C1-8DA9-216AD9AC74D4}"/>
              </a:ext>
            </a:extLst>
          </p:cNvPr>
          <p:cNvGrpSpPr/>
          <p:nvPr/>
        </p:nvGrpSpPr>
        <p:grpSpPr>
          <a:xfrm>
            <a:off x="16886602" y="16241308"/>
            <a:ext cx="3688753" cy="438912"/>
            <a:chOff x="5624073" y="25892533"/>
            <a:chExt cx="5000003" cy="461665"/>
          </a:xfrm>
        </p:grpSpPr>
        <p:sp>
          <p:nvSpPr>
            <p:cNvPr id="75" name="Rectangle: Rounded Corners 1004">
              <a:extLst>
                <a:ext uri="{FF2B5EF4-FFF2-40B4-BE49-F238E27FC236}">
                  <a16:creationId xmlns:a16="http://schemas.microsoft.com/office/drawing/2014/main" id="{2A972B4A-2D5A-E2DE-AE5C-E529AEB18E60}"/>
                </a:ext>
              </a:extLst>
            </p:cNvPr>
            <p:cNvSpPr/>
            <p:nvPr/>
          </p:nvSpPr>
          <p:spPr>
            <a:xfrm>
              <a:off x="5624073" y="25892533"/>
              <a:ext cx="5000003" cy="461665"/>
            </a:xfrm>
            <a:prstGeom prst="round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Workload partitioning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ED392563-6C8B-A5EC-C56F-B3AABEA759AD}"/>
                </a:ext>
              </a:extLst>
            </p:cNvPr>
            <p:cNvSpPr/>
            <p:nvPr/>
          </p:nvSpPr>
          <p:spPr>
            <a:xfrm>
              <a:off x="5672448" y="25921561"/>
              <a:ext cx="617412" cy="403946"/>
            </a:xfrm>
            <a:prstGeom prst="ellipse">
              <a:avLst/>
            </a:prstGeom>
            <a:ln w="28575"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dirty="0"/>
                <a:t>1</a:t>
              </a: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38AD2CFE-B264-830F-9EBD-E41801BA5503}"/>
              </a:ext>
            </a:extLst>
          </p:cNvPr>
          <p:cNvSpPr/>
          <p:nvPr/>
        </p:nvSpPr>
        <p:spPr>
          <a:xfrm>
            <a:off x="16790205" y="8759175"/>
            <a:ext cx="1356522" cy="1265039"/>
          </a:xfrm>
          <a:prstGeom prst="rect">
            <a:avLst/>
          </a:prstGeom>
          <a:noFill/>
          <a:ln w="28575">
            <a:solidFill>
              <a:srgbClr val="001E6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Multi-threaded</a:t>
            </a:r>
            <a:endParaRPr lang="en-US" sz="1800" dirty="0">
              <a:cs typeface="Arial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E37FE94-61A4-F7EF-9D2D-0D9E52EA6418}"/>
              </a:ext>
            </a:extLst>
          </p:cNvPr>
          <p:cNvSpPr/>
          <p:nvPr/>
        </p:nvSpPr>
        <p:spPr>
          <a:xfrm>
            <a:off x="18293111" y="8759175"/>
            <a:ext cx="1356522" cy="1265039"/>
          </a:xfrm>
          <a:prstGeom prst="rect">
            <a:avLst/>
          </a:prstGeom>
          <a:noFill/>
          <a:ln w="28575">
            <a:solidFill>
              <a:srgbClr val="001E6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Distributed</a:t>
            </a:r>
          </a:p>
          <a:p>
            <a:pPr algn="ctr"/>
            <a:r>
              <a:rPr lang="en-US" sz="1800" dirty="0"/>
              <a:t>(Apache Spark)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9EFE062-CDB1-CFAF-94FE-F54CC9231AFF}"/>
              </a:ext>
            </a:extLst>
          </p:cNvPr>
          <p:cNvSpPr/>
          <p:nvPr/>
        </p:nvSpPr>
        <p:spPr>
          <a:xfrm>
            <a:off x="19765562" y="8759175"/>
            <a:ext cx="1356522" cy="1265039"/>
          </a:xfrm>
          <a:prstGeom prst="rect">
            <a:avLst/>
          </a:prstGeom>
          <a:noFill/>
          <a:ln w="28575">
            <a:solidFill>
              <a:srgbClr val="001E6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Multi-node</a:t>
            </a:r>
          </a:p>
          <a:p>
            <a:pPr algn="ctr"/>
            <a:r>
              <a:rPr lang="en-US" sz="1800" dirty="0"/>
              <a:t>Multi-threaded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843CB95-6BFF-5710-1ABA-4F0A48D9C423}"/>
              </a:ext>
            </a:extLst>
          </p:cNvPr>
          <p:cNvSpPr/>
          <p:nvPr/>
        </p:nvSpPr>
        <p:spPr>
          <a:xfrm>
            <a:off x="21236584" y="8759175"/>
            <a:ext cx="1356522" cy="1265039"/>
          </a:xfrm>
          <a:prstGeom prst="rect">
            <a:avLst/>
          </a:prstGeom>
          <a:noFill/>
          <a:ln w="28575">
            <a:solidFill>
              <a:srgbClr val="001E6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Single-GPU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2374093-0AF7-BFF4-6CD9-3C862DBD0F14}"/>
              </a:ext>
            </a:extLst>
          </p:cNvPr>
          <p:cNvSpPr/>
          <p:nvPr/>
        </p:nvSpPr>
        <p:spPr>
          <a:xfrm>
            <a:off x="22730318" y="8759175"/>
            <a:ext cx="1448540" cy="1265039"/>
          </a:xfrm>
          <a:prstGeom prst="rect">
            <a:avLst/>
          </a:prstGeom>
          <a:ln w="28575"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Multi-node Multi-GPUs (MNMG)</a:t>
            </a:r>
          </a:p>
        </p:txBody>
      </p:sp>
      <p:sp>
        <p:nvSpPr>
          <p:cNvPr id="82" name="Rectangle: Single Corner Snipped 987">
            <a:extLst>
              <a:ext uri="{FF2B5EF4-FFF2-40B4-BE49-F238E27FC236}">
                <a16:creationId xmlns:a16="http://schemas.microsoft.com/office/drawing/2014/main" id="{3CF2D5A5-AE37-E143-8804-A0E4E012D8C9}"/>
              </a:ext>
            </a:extLst>
          </p:cNvPr>
          <p:cNvSpPr/>
          <p:nvPr/>
        </p:nvSpPr>
        <p:spPr>
          <a:xfrm>
            <a:off x="18249408" y="10119381"/>
            <a:ext cx="1359942" cy="406724"/>
          </a:xfrm>
          <a:prstGeom prst="snip1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err="1"/>
              <a:t>RDFox</a:t>
            </a:r>
            <a:endParaRPr lang="en-US" sz="1800"/>
          </a:p>
        </p:txBody>
      </p:sp>
      <p:sp>
        <p:nvSpPr>
          <p:cNvPr id="83" name="Rectangle: Single Corner Snipped 988">
            <a:extLst>
              <a:ext uri="{FF2B5EF4-FFF2-40B4-BE49-F238E27FC236}">
                <a16:creationId xmlns:a16="http://schemas.microsoft.com/office/drawing/2014/main" id="{A9D22334-AD95-EDFC-D806-B62A5CD3F9AE}"/>
              </a:ext>
            </a:extLst>
          </p:cNvPr>
          <p:cNvSpPr/>
          <p:nvPr/>
        </p:nvSpPr>
        <p:spPr>
          <a:xfrm>
            <a:off x="19732909" y="10119380"/>
            <a:ext cx="1356522" cy="404859"/>
          </a:xfrm>
          <a:prstGeom prst="snip1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SLOG</a:t>
            </a:r>
          </a:p>
        </p:txBody>
      </p:sp>
      <p:sp>
        <p:nvSpPr>
          <p:cNvPr id="84" name="Rectangle: Single Corner Snipped 989">
            <a:extLst>
              <a:ext uri="{FF2B5EF4-FFF2-40B4-BE49-F238E27FC236}">
                <a16:creationId xmlns:a16="http://schemas.microsoft.com/office/drawing/2014/main" id="{A23B4343-7F3A-8986-511A-7C1874782C80}"/>
              </a:ext>
            </a:extLst>
          </p:cNvPr>
          <p:cNvSpPr/>
          <p:nvPr/>
        </p:nvSpPr>
        <p:spPr>
          <a:xfrm>
            <a:off x="21212546" y="10119381"/>
            <a:ext cx="1359942" cy="406724"/>
          </a:xfrm>
          <a:prstGeom prst="snip1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 err="1"/>
              <a:t>GPUJoin</a:t>
            </a:r>
          </a:p>
        </p:txBody>
      </p:sp>
      <p:sp>
        <p:nvSpPr>
          <p:cNvPr id="85" name="Rectangle: Single Corner Snipped 990">
            <a:extLst>
              <a:ext uri="{FF2B5EF4-FFF2-40B4-BE49-F238E27FC236}">
                <a16:creationId xmlns:a16="http://schemas.microsoft.com/office/drawing/2014/main" id="{757A7C96-B5C6-C17B-43C2-5F539FDCF814}"/>
              </a:ext>
            </a:extLst>
          </p:cNvPr>
          <p:cNvSpPr/>
          <p:nvPr/>
        </p:nvSpPr>
        <p:spPr>
          <a:xfrm>
            <a:off x="21212546" y="10660172"/>
            <a:ext cx="1359942" cy="402992"/>
          </a:xfrm>
          <a:prstGeom prst="snip1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err="1"/>
              <a:t>GPULog</a:t>
            </a:r>
            <a:endParaRPr lang="en-US" sz="1800"/>
          </a:p>
        </p:txBody>
      </p:sp>
      <p:sp>
        <p:nvSpPr>
          <p:cNvPr id="86" name="Rectangle: Single Corner Snipped 991">
            <a:extLst>
              <a:ext uri="{FF2B5EF4-FFF2-40B4-BE49-F238E27FC236}">
                <a16:creationId xmlns:a16="http://schemas.microsoft.com/office/drawing/2014/main" id="{A31B5C9F-2EE8-39DB-5818-CAC44665FE66}"/>
              </a:ext>
            </a:extLst>
          </p:cNvPr>
          <p:cNvSpPr/>
          <p:nvPr/>
        </p:nvSpPr>
        <p:spPr>
          <a:xfrm>
            <a:off x="16803251" y="10119379"/>
            <a:ext cx="1356522" cy="404858"/>
          </a:xfrm>
          <a:prstGeom prst="snip1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Soufflé</a:t>
            </a:r>
          </a:p>
        </p:txBody>
      </p:sp>
      <p:sp>
        <p:nvSpPr>
          <p:cNvPr id="87" name="Rectangle: Single Corner Snipped 992">
            <a:extLst>
              <a:ext uri="{FF2B5EF4-FFF2-40B4-BE49-F238E27FC236}">
                <a16:creationId xmlns:a16="http://schemas.microsoft.com/office/drawing/2014/main" id="{2B1AEC8B-4C3D-DC5B-C069-7C93B860B6F5}"/>
              </a:ext>
            </a:extLst>
          </p:cNvPr>
          <p:cNvSpPr/>
          <p:nvPr/>
        </p:nvSpPr>
        <p:spPr>
          <a:xfrm>
            <a:off x="18248820" y="10683173"/>
            <a:ext cx="1366782" cy="402686"/>
          </a:xfrm>
          <a:prstGeom prst="snip1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err="1"/>
              <a:t>Radlog</a:t>
            </a:r>
            <a:endParaRPr lang="en-US" sz="1800"/>
          </a:p>
        </p:txBody>
      </p:sp>
      <p:sp>
        <p:nvSpPr>
          <p:cNvPr id="88" name="Rectangle: Single Corner Snipped 1006">
            <a:extLst>
              <a:ext uri="{FF2B5EF4-FFF2-40B4-BE49-F238E27FC236}">
                <a16:creationId xmlns:a16="http://schemas.microsoft.com/office/drawing/2014/main" id="{25452EE7-A91D-A43E-FEF7-E856790CF0A8}"/>
              </a:ext>
            </a:extLst>
          </p:cNvPr>
          <p:cNvSpPr/>
          <p:nvPr/>
        </p:nvSpPr>
        <p:spPr>
          <a:xfrm>
            <a:off x="16795646" y="10683174"/>
            <a:ext cx="1356522" cy="401125"/>
          </a:xfrm>
          <a:prstGeom prst="snip1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err="1"/>
              <a:t>LogicBlox</a:t>
            </a:r>
            <a:endParaRPr lang="en-US" sz="1800"/>
          </a:p>
        </p:txBody>
      </p:sp>
      <p:sp>
        <p:nvSpPr>
          <p:cNvPr id="89" name="Rectangle: Single Corner Snipped 1007">
            <a:extLst>
              <a:ext uri="{FF2B5EF4-FFF2-40B4-BE49-F238E27FC236}">
                <a16:creationId xmlns:a16="http://schemas.microsoft.com/office/drawing/2014/main" id="{67EAC64F-B68F-C702-C13D-696E5BFDD296}"/>
              </a:ext>
            </a:extLst>
          </p:cNvPr>
          <p:cNvSpPr/>
          <p:nvPr/>
        </p:nvSpPr>
        <p:spPr>
          <a:xfrm>
            <a:off x="19732617" y="10660172"/>
            <a:ext cx="1359942" cy="402992"/>
          </a:xfrm>
          <a:prstGeom prst="snip1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PRAM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A5A09B4-A66D-E950-4CCC-4B9B72403FE5}"/>
              </a:ext>
            </a:extLst>
          </p:cNvPr>
          <p:cNvSpPr txBox="1"/>
          <p:nvPr/>
        </p:nvSpPr>
        <p:spPr>
          <a:xfrm>
            <a:off x="16610410" y="12072141"/>
            <a:ext cx="741578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>
                <a:ea typeface="Open Sans"/>
                <a:cs typeface="Open Sans"/>
              </a:rPr>
              <a:t>Datalog</a:t>
            </a:r>
            <a:r>
              <a:rPr lang="en-US" sz="2800" b="1" dirty="0">
                <a:ea typeface="Open Sans"/>
                <a:cs typeface="Open Sans"/>
              </a:rPr>
              <a:t> on multi-node multi-GPU systems</a:t>
            </a:r>
            <a:endParaRPr lang="en-US" sz="2800" b="1" dirty="0"/>
          </a:p>
        </p:txBody>
      </p:sp>
      <p:pic>
        <p:nvPicPr>
          <p:cNvPr id="91" name="Graphic 90" descr="Badge Question Mark with solid fill">
            <a:extLst>
              <a:ext uri="{FF2B5EF4-FFF2-40B4-BE49-F238E27FC236}">
                <a16:creationId xmlns:a16="http://schemas.microsoft.com/office/drawing/2014/main" id="{AC777ADA-6000-E1E8-09B3-CDB0290E56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997388" y="10127122"/>
            <a:ext cx="914400" cy="914400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802EA534-D1F7-1B65-49B2-E497BEB0CF3E}"/>
              </a:ext>
            </a:extLst>
          </p:cNvPr>
          <p:cNvSpPr txBox="1"/>
          <p:nvPr/>
        </p:nvSpPr>
        <p:spPr>
          <a:xfrm>
            <a:off x="16763074" y="7988805"/>
            <a:ext cx="738645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ea typeface="Open Sans"/>
                <a:cs typeface="Open Sans"/>
              </a:rPr>
              <a:t>Limitations of current </a:t>
            </a:r>
            <a:r>
              <a:rPr lang="en-US" sz="2800" b="1" dirty="0" err="1">
                <a:ea typeface="Open Sans"/>
                <a:cs typeface="Open Sans"/>
              </a:rPr>
              <a:t>Datalog</a:t>
            </a:r>
            <a:r>
              <a:rPr lang="en-US" sz="2800" b="1" dirty="0">
                <a:ea typeface="Open Sans"/>
                <a:cs typeface="Open Sans"/>
              </a:rPr>
              <a:t> Engines</a:t>
            </a:r>
            <a:endParaRPr lang="en-US" sz="2800" b="1" dirty="0"/>
          </a:p>
        </p:txBody>
      </p:sp>
      <p:sp>
        <p:nvSpPr>
          <p:cNvPr id="96" name="Rectangle: Single Corner Snipped 1006">
            <a:extLst>
              <a:ext uri="{FF2B5EF4-FFF2-40B4-BE49-F238E27FC236}">
                <a16:creationId xmlns:a16="http://schemas.microsoft.com/office/drawing/2014/main" id="{3D6E8A77-8923-774C-2D74-1AA5609B0B8B}"/>
              </a:ext>
            </a:extLst>
          </p:cNvPr>
          <p:cNvSpPr/>
          <p:nvPr/>
        </p:nvSpPr>
        <p:spPr>
          <a:xfrm>
            <a:off x="16788631" y="11196397"/>
            <a:ext cx="1356522" cy="401125"/>
          </a:xfrm>
          <a:prstGeom prst="roundRect">
            <a:avLst/>
          </a:prstGeom>
          <a:solidFill>
            <a:schemeClr val="accent6"/>
          </a:solidFill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solidFill>
                  <a:schemeClr val="bg1"/>
                </a:solidFill>
              </a:rPr>
              <a:t>Scalability</a:t>
            </a:r>
          </a:p>
        </p:txBody>
      </p:sp>
      <p:sp>
        <p:nvSpPr>
          <p:cNvPr id="97" name="Rectangle: Single Corner Snipped 1006">
            <a:extLst>
              <a:ext uri="{FF2B5EF4-FFF2-40B4-BE49-F238E27FC236}">
                <a16:creationId xmlns:a16="http://schemas.microsoft.com/office/drawing/2014/main" id="{10F0E456-0BBC-94FA-9296-58F03CCFA6A7}"/>
              </a:ext>
            </a:extLst>
          </p:cNvPr>
          <p:cNvSpPr/>
          <p:nvPr/>
        </p:nvSpPr>
        <p:spPr>
          <a:xfrm>
            <a:off x="18248820" y="11196397"/>
            <a:ext cx="1356522" cy="401125"/>
          </a:xfrm>
          <a:prstGeom prst="roundRect">
            <a:avLst/>
          </a:prstGeom>
          <a:solidFill>
            <a:schemeClr val="accent6"/>
          </a:solidFill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solidFill>
                  <a:schemeClr val="bg1"/>
                </a:solidFill>
              </a:rPr>
              <a:t>Overhead</a:t>
            </a:r>
          </a:p>
        </p:txBody>
      </p:sp>
      <p:sp>
        <p:nvSpPr>
          <p:cNvPr id="98" name="Rectangle: Single Corner Snipped 1006">
            <a:extLst>
              <a:ext uri="{FF2B5EF4-FFF2-40B4-BE49-F238E27FC236}">
                <a16:creationId xmlns:a16="http://schemas.microsoft.com/office/drawing/2014/main" id="{59847070-831E-3E9B-9857-F1A37F9A1D32}"/>
              </a:ext>
            </a:extLst>
          </p:cNvPr>
          <p:cNvSpPr/>
          <p:nvPr/>
        </p:nvSpPr>
        <p:spPr>
          <a:xfrm>
            <a:off x="19709009" y="11196397"/>
            <a:ext cx="1356522" cy="401125"/>
          </a:xfrm>
          <a:prstGeom prst="roundRect">
            <a:avLst/>
          </a:prstGeom>
          <a:solidFill>
            <a:schemeClr val="accent6"/>
          </a:solidFill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solidFill>
                  <a:schemeClr val="bg1"/>
                </a:solidFill>
              </a:rPr>
              <a:t>CPU-Only</a:t>
            </a:r>
          </a:p>
        </p:txBody>
      </p:sp>
      <p:sp>
        <p:nvSpPr>
          <p:cNvPr id="99" name="Rectangle: Single Corner Snipped 1006">
            <a:extLst>
              <a:ext uri="{FF2B5EF4-FFF2-40B4-BE49-F238E27FC236}">
                <a16:creationId xmlns:a16="http://schemas.microsoft.com/office/drawing/2014/main" id="{C372B4FE-DED3-A8D4-0548-9654B8BEC0AD}"/>
              </a:ext>
            </a:extLst>
          </p:cNvPr>
          <p:cNvSpPr/>
          <p:nvPr/>
        </p:nvSpPr>
        <p:spPr>
          <a:xfrm>
            <a:off x="21221292" y="11196397"/>
            <a:ext cx="1356522" cy="401125"/>
          </a:xfrm>
          <a:prstGeom prst="roundRect">
            <a:avLst/>
          </a:prstGeom>
          <a:solidFill>
            <a:schemeClr val="accent6"/>
          </a:solidFill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solidFill>
                  <a:schemeClr val="bg1"/>
                </a:solidFill>
              </a:rPr>
              <a:t>VRAM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6AA4850-E82F-564F-9A41-09F5117BF70A}"/>
              </a:ext>
            </a:extLst>
          </p:cNvPr>
          <p:cNvSpPr txBox="1"/>
          <p:nvPr/>
        </p:nvSpPr>
        <p:spPr>
          <a:xfrm>
            <a:off x="16777349" y="15494304"/>
            <a:ext cx="741578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ea typeface="Open Sans"/>
                <a:cs typeface="Open Sans"/>
              </a:rPr>
              <a:t>Requirements for MNMG Engine</a:t>
            </a:r>
            <a:endParaRPr lang="en-US" sz="2800" b="1" dirty="0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50726C2B-D521-4303-51A3-41FDD7B734E0}"/>
              </a:ext>
            </a:extLst>
          </p:cNvPr>
          <p:cNvSpPr/>
          <p:nvPr/>
        </p:nvSpPr>
        <p:spPr>
          <a:xfrm>
            <a:off x="16803251" y="13026446"/>
            <a:ext cx="4755747" cy="2075839"/>
          </a:xfrm>
          <a:prstGeom prst="ellipse">
            <a:avLst/>
          </a:prstGeom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cs typeface="Arial"/>
              </a:rPr>
              <a:t>High performance implementation for highly expressive language</a:t>
            </a:r>
          </a:p>
        </p:txBody>
      </p: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E0D12E2B-3A7E-CB4C-A6BA-70A11BF1CAA6}"/>
              </a:ext>
            </a:extLst>
          </p:cNvPr>
          <p:cNvGrpSpPr/>
          <p:nvPr/>
        </p:nvGrpSpPr>
        <p:grpSpPr>
          <a:xfrm>
            <a:off x="21700870" y="12588179"/>
            <a:ext cx="2477987" cy="2906125"/>
            <a:chOff x="3418234" y="105706"/>
            <a:chExt cx="4672941" cy="6271259"/>
          </a:xfrm>
        </p:grpSpPr>
        <p:pic>
          <p:nvPicPr>
            <p:cNvPr id="245" name="Picture 12" descr="Graphical user interface, diagram&#10;&#10;Description automatically generated">
              <a:extLst>
                <a:ext uri="{FF2B5EF4-FFF2-40B4-BE49-F238E27FC236}">
                  <a16:creationId xmlns:a16="http://schemas.microsoft.com/office/drawing/2014/main" id="{33A800E7-1ABD-25B5-81CF-0E1F7C3D7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18234" y="105706"/>
              <a:ext cx="4623460" cy="2523968"/>
            </a:xfrm>
            <a:prstGeom prst="rect">
              <a:avLst/>
            </a:prstGeom>
          </p:spPr>
        </p:pic>
        <p:pic>
          <p:nvPicPr>
            <p:cNvPr id="246" name="Picture 14">
              <a:extLst>
                <a:ext uri="{FF2B5EF4-FFF2-40B4-BE49-F238E27FC236}">
                  <a16:creationId xmlns:a16="http://schemas.microsoft.com/office/drawing/2014/main" id="{A3A67BDE-9F11-A592-EC2F-B16A06CEE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467715" y="4097165"/>
              <a:ext cx="4623460" cy="2279800"/>
            </a:xfrm>
            <a:prstGeom prst="rect">
              <a:avLst/>
            </a:prstGeom>
          </p:spPr>
        </p:pic>
        <p:pic>
          <p:nvPicPr>
            <p:cNvPr id="247" name="Picture 15" descr="Graphical user interface, diagram&#10;&#10;Description automatically generated">
              <a:extLst>
                <a:ext uri="{FF2B5EF4-FFF2-40B4-BE49-F238E27FC236}">
                  <a16:creationId xmlns:a16="http://schemas.microsoft.com/office/drawing/2014/main" id="{EAA6A583-CF47-E1C6-AA5E-F560664D0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418234" y="2409170"/>
              <a:ext cx="4623459" cy="1994233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809B2B5-653C-AE40-2CD1-D8F128F879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459" y="24382442"/>
            <a:ext cx="15293096" cy="90000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82DFCC-5FDE-7F00-6960-FE00B278F7C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884804" y="22353042"/>
            <a:ext cx="5793308" cy="55783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E3446F-06E3-C66B-5F25-DA4DA97E88F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484952" y="22377101"/>
            <a:ext cx="5712606" cy="5735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35519E-35A0-3883-A37B-FC6247DECD2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650651" y="28853816"/>
            <a:ext cx="7268127" cy="25103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5BCC1D-6305-4F85-F497-8E7C7E09E33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764891" y="32288596"/>
            <a:ext cx="7153416" cy="11550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05E259-3EE2-C7C4-678B-441FCF88708F}"/>
              </a:ext>
            </a:extLst>
          </p:cNvPr>
          <p:cNvSpPr txBox="1"/>
          <p:nvPr/>
        </p:nvSpPr>
        <p:spPr>
          <a:xfrm>
            <a:off x="24712040" y="28206465"/>
            <a:ext cx="724859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>
                <a:ea typeface="Open Sans"/>
                <a:cs typeface="Open Sans"/>
              </a:rPr>
              <a:t>MNMGDatalog</a:t>
            </a:r>
            <a:r>
              <a:rPr lang="en-US" sz="2800" b="1" dirty="0">
                <a:ea typeface="Open Sans"/>
                <a:cs typeface="Open Sans"/>
              </a:rPr>
              <a:t> multi-GPU power analysis</a:t>
            </a:r>
            <a:endParaRPr lang="en-US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F3B1C-9E46-A00D-62F1-2765EACF734E}"/>
              </a:ext>
            </a:extLst>
          </p:cNvPr>
          <p:cNvSpPr txBox="1"/>
          <p:nvPr/>
        </p:nvSpPr>
        <p:spPr>
          <a:xfrm>
            <a:off x="24721870" y="31615710"/>
            <a:ext cx="723876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ea typeface="Open Sans"/>
                <a:cs typeface="Open Sans"/>
              </a:rPr>
              <a:t>Energy efficiency using Tuples/Joule</a:t>
            </a:r>
            <a:endParaRPr lang="en-US" sz="2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CF38D-18E7-7252-E63E-071BB7F84D26}"/>
              </a:ext>
            </a:extLst>
          </p:cNvPr>
          <p:cNvSpPr txBox="1"/>
          <p:nvPr/>
        </p:nvSpPr>
        <p:spPr>
          <a:xfrm>
            <a:off x="681387" y="23772136"/>
            <a:ext cx="1539169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ea typeface="Open Sans"/>
                <a:cs typeface="Open Sans"/>
              </a:rPr>
              <a:t>Multi-node evaluation for TC, SG, and CC</a:t>
            </a:r>
            <a:endParaRPr lang="en-US" sz="2800" b="1" dirty="0"/>
          </a:p>
        </p:txBody>
      </p:sp>
      <p:sp>
        <p:nvSpPr>
          <p:cNvPr id="12" name="Rectangle: Rounded Corners 43">
            <a:extLst>
              <a:ext uri="{FF2B5EF4-FFF2-40B4-BE49-F238E27FC236}">
                <a16:creationId xmlns:a16="http://schemas.microsoft.com/office/drawing/2014/main" id="{65DC402B-41BC-7548-18E8-F27517AB2FDD}"/>
              </a:ext>
            </a:extLst>
          </p:cNvPr>
          <p:cNvSpPr/>
          <p:nvPr/>
        </p:nvSpPr>
        <p:spPr>
          <a:xfrm>
            <a:off x="681387" y="34905553"/>
            <a:ext cx="10097456" cy="2944431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ea typeface="Calibri"/>
                <a:cs typeface="Calibri"/>
              </a:rPr>
              <a:t>First multi-node multi-GPU </a:t>
            </a:r>
            <a:r>
              <a:rPr lang="en-US" sz="3200" b="1" dirty="0" err="1">
                <a:ea typeface="Calibri"/>
                <a:cs typeface="Calibri"/>
              </a:rPr>
              <a:t>Datalog</a:t>
            </a:r>
            <a:r>
              <a:rPr lang="en-US" sz="3200" b="1" dirty="0">
                <a:ea typeface="Calibri"/>
                <a:cs typeface="Calibri"/>
              </a:rPr>
              <a:t> engine</a:t>
            </a:r>
          </a:p>
          <a:p>
            <a:pPr algn="ctr"/>
            <a:endParaRPr lang="en-US" sz="3200" b="1" dirty="0">
              <a:ea typeface="Calibri"/>
              <a:cs typeface="Calibri"/>
            </a:endParaRPr>
          </a:p>
          <a:p>
            <a:r>
              <a:rPr lang="en-US" sz="3200" b="1" dirty="0">
                <a:ea typeface="Calibri"/>
                <a:cs typeface="Calibri"/>
              </a:rPr>
              <a:t>    Single-GPU</a:t>
            </a:r>
            <a:r>
              <a:rPr lang="en-US" sz="3200" dirty="0">
                <a:ea typeface="Calibri"/>
                <a:cs typeface="Calibri"/>
              </a:rPr>
              <a:t>: </a:t>
            </a:r>
            <a:r>
              <a:rPr lang="en-US" sz="3200" dirty="0">
                <a:ea typeface="+mn-lt"/>
                <a:cs typeface="+mn-lt"/>
              </a:rPr>
              <a:t>Up to 7× speedup over </a:t>
            </a:r>
            <a:r>
              <a:rPr lang="en-US" sz="3200" dirty="0" err="1">
                <a:ea typeface="+mn-lt"/>
                <a:cs typeface="+mn-lt"/>
              </a:rPr>
              <a:t>GPULog</a:t>
            </a:r>
            <a:endParaRPr lang="en-US" sz="3200" dirty="0">
              <a:ea typeface="+mn-lt"/>
              <a:cs typeface="Calibri"/>
            </a:endParaRPr>
          </a:p>
          <a:p>
            <a:r>
              <a:rPr lang="en-US" sz="3200" b="1" dirty="0">
                <a:ea typeface="+mn-lt"/>
                <a:cs typeface="+mn-lt"/>
              </a:rPr>
              <a:t>    Multi-threaded</a:t>
            </a:r>
            <a:r>
              <a:rPr lang="en-US" sz="3200" dirty="0">
                <a:ea typeface="+mn-lt"/>
                <a:cs typeface="+mn-lt"/>
              </a:rPr>
              <a:t>: Up to 32× over Soufflé</a:t>
            </a:r>
            <a:endParaRPr lang="en-US" sz="3200" dirty="0"/>
          </a:p>
          <a:p>
            <a:r>
              <a:rPr lang="en-US" sz="3200" b="1" dirty="0">
                <a:ea typeface="Calibri"/>
                <a:cs typeface="Calibri"/>
              </a:rPr>
              <a:t>    Distributed</a:t>
            </a:r>
            <a:r>
              <a:rPr lang="en-US" sz="3200" dirty="0">
                <a:ea typeface="Calibri"/>
                <a:cs typeface="Calibri"/>
              </a:rPr>
              <a:t>: Up to 31.9× speedup over SLOG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C9F6D27-D4AB-F48E-3EC5-93859D73C3D3}"/>
              </a:ext>
            </a:extLst>
          </p:cNvPr>
          <p:cNvGrpSpPr/>
          <p:nvPr/>
        </p:nvGrpSpPr>
        <p:grpSpPr>
          <a:xfrm>
            <a:off x="10921565" y="41468573"/>
            <a:ext cx="11075270" cy="2211152"/>
            <a:chOff x="12836518" y="41468573"/>
            <a:chExt cx="11075270" cy="2211152"/>
          </a:xfrm>
        </p:grpSpPr>
        <p:pic>
          <p:nvPicPr>
            <p:cNvPr id="13" name="Picture 12" descr="Argonne National Laboratory Electric Vehicle - Esther Petronilla">
              <a:extLst>
                <a:ext uri="{FF2B5EF4-FFF2-40B4-BE49-F238E27FC236}">
                  <a16:creationId xmlns:a16="http://schemas.microsoft.com/office/drawing/2014/main" id="{06175DD6-11F1-EF14-E87C-775634DE8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5615196" y="41501008"/>
              <a:ext cx="4237100" cy="217871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C91ECBD-2B21-55A3-FB35-F105DD04D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837473B0-CC2E-450A-ABE3-18F120FF3D39}">
                  <a1611:picAttrSrcUrl xmlns:a1611="http://schemas.microsoft.com/office/drawing/2016/11/main" r:id="rId20"/>
                </a:ext>
              </a:extLst>
            </a:blip>
            <a:stretch>
              <a:fillRect/>
            </a:stretch>
          </p:blipFill>
          <p:spPr>
            <a:xfrm>
              <a:off x="12836518" y="41468573"/>
              <a:ext cx="2227859" cy="221115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7850AF5-CAF5-786F-A1DE-2D6924ECF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0403116" y="41583914"/>
              <a:ext cx="3508672" cy="2095811"/>
            </a:xfrm>
            <a:prstGeom prst="rect">
              <a:avLst/>
            </a:prstGeom>
          </p:spPr>
        </p:pic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AD86F113-27C1-F4CE-8CF5-710DF9B211F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518110" y="19474373"/>
            <a:ext cx="7154104" cy="13934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0680464-D060-AEC5-25BB-8CD7CB16D8F7}"/>
              </a:ext>
            </a:extLst>
          </p:cNvPr>
          <p:cNvSpPr txBox="1"/>
          <p:nvPr/>
        </p:nvSpPr>
        <p:spPr>
          <a:xfrm>
            <a:off x="17779808" y="29245703"/>
            <a:ext cx="6453465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ea typeface="+mn-lt"/>
                <a:cs typeface="+mn-lt"/>
              </a:rPr>
              <a:t> Total number of tuples produced </a:t>
            </a:r>
            <a:br>
              <a:rPr lang="en-US" sz="3200" dirty="0">
                <a:ea typeface="+mn-lt"/>
                <a:cs typeface="+mn-lt"/>
              </a:rPr>
            </a:br>
            <a:r>
              <a:rPr lang="en-US" sz="3200" dirty="0">
                <a:ea typeface="+mn-lt"/>
                <a:cs typeface="+mn-lt"/>
              </a:rPr>
              <a:t> Total energy consumed (Joules)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1C9CF7-2AF1-6E71-6574-28176EF7734E}"/>
              </a:ext>
            </a:extLst>
          </p:cNvPr>
          <p:cNvCxnSpPr>
            <a:cxnSpLocks/>
          </p:cNvCxnSpPr>
          <p:nvPr/>
        </p:nvCxnSpPr>
        <p:spPr>
          <a:xfrm>
            <a:off x="17958588" y="29791135"/>
            <a:ext cx="5896298" cy="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37EC6DBF-B64F-EF94-56E5-AB25D37D5AC1}"/>
              </a:ext>
            </a:extLst>
          </p:cNvPr>
          <p:cNvSpPr txBox="1"/>
          <p:nvPr/>
        </p:nvSpPr>
        <p:spPr>
          <a:xfrm>
            <a:off x="17143976" y="28598352"/>
            <a:ext cx="719542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ea typeface="Open Sans"/>
                <a:cs typeface="Open Sans"/>
              </a:rPr>
              <a:t>Energy efficiency metric: Tuples/Joule</a:t>
            </a:r>
            <a:endParaRPr lang="en-US" sz="2800" b="1" dirty="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575799BE-1AD1-A118-E3DE-A190DB87789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69261" y="20774047"/>
            <a:ext cx="7889095" cy="2349416"/>
          </a:xfrm>
          <a:prstGeom prst="rect">
            <a:avLst/>
          </a:prstGeom>
        </p:spPr>
      </p:pic>
      <p:pic>
        <p:nvPicPr>
          <p:cNvPr id="94" name="Picture 93" descr="A white paper with black numbers and black text&#10;&#10;AI-generated content may be incorrect.">
            <a:extLst>
              <a:ext uri="{FF2B5EF4-FFF2-40B4-BE49-F238E27FC236}">
                <a16:creationId xmlns:a16="http://schemas.microsoft.com/office/drawing/2014/main" id="{8B04EF82-9420-9DAF-FD69-0D636971116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2319" y="20837497"/>
            <a:ext cx="7134116" cy="2349416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AEF95761-FA62-3804-8CD9-84FFE12A1C7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06059" y="10627099"/>
            <a:ext cx="7224767" cy="4388448"/>
          </a:xfrm>
          <a:prstGeom prst="rect">
            <a:avLst/>
          </a:prstGeom>
        </p:spPr>
      </p:pic>
      <p:sp>
        <p:nvSpPr>
          <p:cNvPr id="102" name="Freeform: Shape 1400">
            <a:extLst>
              <a:ext uri="{FF2B5EF4-FFF2-40B4-BE49-F238E27FC236}">
                <a16:creationId xmlns:a16="http://schemas.microsoft.com/office/drawing/2014/main" id="{E5F85E2B-A0D2-B176-17AA-C9B26E11E8E9}"/>
              </a:ext>
            </a:extLst>
          </p:cNvPr>
          <p:cNvSpPr/>
          <p:nvPr/>
        </p:nvSpPr>
        <p:spPr>
          <a:xfrm>
            <a:off x="24869297" y="15922821"/>
            <a:ext cx="7331042" cy="331410"/>
          </a:xfrm>
          <a:custGeom>
            <a:avLst/>
            <a:gdLst>
              <a:gd name="connsiteX0" fmla="*/ 0 w 9857035"/>
              <a:gd name="connsiteY0" fmla="*/ 68013 h 408072"/>
              <a:gd name="connsiteX1" fmla="*/ 68013 w 9857035"/>
              <a:gd name="connsiteY1" fmla="*/ 0 h 408072"/>
              <a:gd name="connsiteX2" fmla="*/ 9789022 w 9857035"/>
              <a:gd name="connsiteY2" fmla="*/ 0 h 408072"/>
              <a:gd name="connsiteX3" fmla="*/ 9857035 w 9857035"/>
              <a:gd name="connsiteY3" fmla="*/ 68013 h 408072"/>
              <a:gd name="connsiteX4" fmla="*/ 9857035 w 9857035"/>
              <a:gd name="connsiteY4" fmla="*/ 340059 h 408072"/>
              <a:gd name="connsiteX5" fmla="*/ 9789022 w 9857035"/>
              <a:gd name="connsiteY5" fmla="*/ 408072 h 408072"/>
              <a:gd name="connsiteX6" fmla="*/ 68013 w 9857035"/>
              <a:gd name="connsiteY6" fmla="*/ 408072 h 408072"/>
              <a:gd name="connsiteX7" fmla="*/ 0 w 9857035"/>
              <a:gd name="connsiteY7" fmla="*/ 340059 h 408072"/>
              <a:gd name="connsiteX8" fmla="*/ 0 w 9857035"/>
              <a:gd name="connsiteY8" fmla="*/ 68013 h 40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57035" h="408072">
                <a:moveTo>
                  <a:pt x="0" y="68013"/>
                </a:moveTo>
                <a:cubicBezTo>
                  <a:pt x="0" y="30450"/>
                  <a:pt x="30450" y="0"/>
                  <a:pt x="68013" y="0"/>
                </a:cubicBezTo>
                <a:lnTo>
                  <a:pt x="9789022" y="0"/>
                </a:lnTo>
                <a:cubicBezTo>
                  <a:pt x="9826585" y="0"/>
                  <a:pt x="9857035" y="30450"/>
                  <a:pt x="9857035" y="68013"/>
                </a:cubicBezTo>
                <a:lnTo>
                  <a:pt x="9857035" y="340059"/>
                </a:lnTo>
                <a:cubicBezTo>
                  <a:pt x="9857035" y="377622"/>
                  <a:pt x="9826585" y="408072"/>
                  <a:pt x="9789022" y="408072"/>
                </a:cubicBezTo>
                <a:lnTo>
                  <a:pt x="68013" y="408072"/>
                </a:lnTo>
                <a:cubicBezTo>
                  <a:pt x="30450" y="408072"/>
                  <a:pt x="0" y="377622"/>
                  <a:pt x="0" y="340059"/>
                </a:cubicBezTo>
                <a:lnTo>
                  <a:pt x="0" y="68013"/>
                </a:lnTo>
                <a:close/>
              </a:path>
            </a:pathLst>
          </a:cu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0" vert="horz" wrap="square" lIns="111360" tIns="111360" rIns="111360" bIns="111360" numCol="1" spcCol="1270" anchor="ctr" anchorCtr="0">
            <a:no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i="0" kern="1200" dirty="0"/>
              <a:t>HW</a:t>
            </a:r>
            <a:r>
              <a:rPr lang="en-US" sz="1800" b="0" i="0" kern="1200" dirty="0"/>
              <a:t>: AMD EPYC </a:t>
            </a:r>
            <a:r>
              <a:rPr lang="en-US" sz="1800" dirty="0"/>
              <a:t>7543P CPU, NVIDIA A100 GPUs with </a:t>
            </a:r>
            <a:r>
              <a:rPr lang="en-US" sz="1800" dirty="0" err="1"/>
              <a:t>NVLink</a:t>
            </a:r>
            <a:endParaRPr lang="en-US" sz="1800" kern="1200" dirty="0"/>
          </a:p>
        </p:txBody>
      </p:sp>
      <p:sp>
        <p:nvSpPr>
          <p:cNvPr id="103" name="Freeform: Shape 51">
            <a:extLst>
              <a:ext uri="{FF2B5EF4-FFF2-40B4-BE49-F238E27FC236}">
                <a16:creationId xmlns:a16="http://schemas.microsoft.com/office/drawing/2014/main" id="{03426E02-E894-F118-5E8C-7411728C0592}"/>
              </a:ext>
            </a:extLst>
          </p:cNvPr>
          <p:cNvSpPr/>
          <p:nvPr/>
        </p:nvSpPr>
        <p:spPr>
          <a:xfrm>
            <a:off x="24869297" y="17032595"/>
            <a:ext cx="7331042" cy="331410"/>
          </a:xfrm>
          <a:custGeom>
            <a:avLst/>
            <a:gdLst>
              <a:gd name="connsiteX0" fmla="*/ 0 w 9857035"/>
              <a:gd name="connsiteY0" fmla="*/ 68013 h 408072"/>
              <a:gd name="connsiteX1" fmla="*/ 68013 w 9857035"/>
              <a:gd name="connsiteY1" fmla="*/ 0 h 408072"/>
              <a:gd name="connsiteX2" fmla="*/ 9789022 w 9857035"/>
              <a:gd name="connsiteY2" fmla="*/ 0 h 408072"/>
              <a:gd name="connsiteX3" fmla="*/ 9857035 w 9857035"/>
              <a:gd name="connsiteY3" fmla="*/ 68013 h 408072"/>
              <a:gd name="connsiteX4" fmla="*/ 9857035 w 9857035"/>
              <a:gd name="connsiteY4" fmla="*/ 340059 h 408072"/>
              <a:gd name="connsiteX5" fmla="*/ 9789022 w 9857035"/>
              <a:gd name="connsiteY5" fmla="*/ 408072 h 408072"/>
              <a:gd name="connsiteX6" fmla="*/ 68013 w 9857035"/>
              <a:gd name="connsiteY6" fmla="*/ 408072 h 408072"/>
              <a:gd name="connsiteX7" fmla="*/ 0 w 9857035"/>
              <a:gd name="connsiteY7" fmla="*/ 340059 h 408072"/>
              <a:gd name="connsiteX8" fmla="*/ 0 w 9857035"/>
              <a:gd name="connsiteY8" fmla="*/ 68013 h 40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57035" h="408072">
                <a:moveTo>
                  <a:pt x="0" y="68013"/>
                </a:moveTo>
                <a:cubicBezTo>
                  <a:pt x="0" y="30450"/>
                  <a:pt x="30450" y="0"/>
                  <a:pt x="68013" y="0"/>
                </a:cubicBezTo>
                <a:lnTo>
                  <a:pt x="9789022" y="0"/>
                </a:lnTo>
                <a:cubicBezTo>
                  <a:pt x="9826585" y="0"/>
                  <a:pt x="9857035" y="30450"/>
                  <a:pt x="9857035" y="68013"/>
                </a:cubicBezTo>
                <a:lnTo>
                  <a:pt x="9857035" y="340059"/>
                </a:lnTo>
                <a:cubicBezTo>
                  <a:pt x="9857035" y="377622"/>
                  <a:pt x="9826585" y="408072"/>
                  <a:pt x="9789022" y="408072"/>
                </a:cubicBezTo>
                <a:lnTo>
                  <a:pt x="68013" y="408072"/>
                </a:lnTo>
                <a:cubicBezTo>
                  <a:pt x="30450" y="408072"/>
                  <a:pt x="0" y="377622"/>
                  <a:pt x="0" y="340059"/>
                </a:cubicBezTo>
                <a:lnTo>
                  <a:pt x="0" y="68013"/>
                </a:lnTo>
                <a:close/>
              </a:path>
            </a:pathLst>
          </a:cu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0" vert="horz" wrap="square" lIns="111360" tIns="111360" rIns="111360" bIns="111360" numCol="1" spcCol="1270" anchor="ctr" anchorCtr="0">
            <a:no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i="0" kern="1200" dirty="0"/>
              <a:t>Datasets</a:t>
            </a:r>
            <a:r>
              <a:rPr lang="en-US" sz="1800" b="0" i="0" kern="1200" dirty="0"/>
              <a:t>: Stanford large network, </a:t>
            </a:r>
            <a:r>
              <a:rPr lang="en-US" sz="1800" b="0" i="0" kern="1200" dirty="0" err="1"/>
              <a:t>SuiteSparse</a:t>
            </a:r>
            <a:r>
              <a:rPr lang="en-US" sz="1800" b="0" i="0" kern="1200" dirty="0"/>
              <a:t>, Road network</a:t>
            </a:r>
            <a:endParaRPr lang="en-US" sz="1800" kern="1200" dirty="0"/>
          </a:p>
        </p:txBody>
      </p:sp>
      <p:sp>
        <p:nvSpPr>
          <p:cNvPr id="104" name="Freeform: Shape 56">
            <a:extLst>
              <a:ext uri="{FF2B5EF4-FFF2-40B4-BE49-F238E27FC236}">
                <a16:creationId xmlns:a16="http://schemas.microsoft.com/office/drawing/2014/main" id="{8F1EBF0F-436F-37A8-AECA-B2916A124F58}"/>
              </a:ext>
            </a:extLst>
          </p:cNvPr>
          <p:cNvSpPr/>
          <p:nvPr/>
        </p:nvSpPr>
        <p:spPr>
          <a:xfrm>
            <a:off x="24875092" y="16343912"/>
            <a:ext cx="7331042" cy="633985"/>
          </a:xfrm>
          <a:custGeom>
            <a:avLst/>
            <a:gdLst>
              <a:gd name="connsiteX0" fmla="*/ 0 w 9857035"/>
              <a:gd name="connsiteY0" fmla="*/ 68013 h 408072"/>
              <a:gd name="connsiteX1" fmla="*/ 68013 w 9857035"/>
              <a:gd name="connsiteY1" fmla="*/ 0 h 408072"/>
              <a:gd name="connsiteX2" fmla="*/ 9789022 w 9857035"/>
              <a:gd name="connsiteY2" fmla="*/ 0 h 408072"/>
              <a:gd name="connsiteX3" fmla="*/ 9857035 w 9857035"/>
              <a:gd name="connsiteY3" fmla="*/ 68013 h 408072"/>
              <a:gd name="connsiteX4" fmla="*/ 9857035 w 9857035"/>
              <a:gd name="connsiteY4" fmla="*/ 340059 h 408072"/>
              <a:gd name="connsiteX5" fmla="*/ 9789022 w 9857035"/>
              <a:gd name="connsiteY5" fmla="*/ 408072 h 408072"/>
              <a:gd name="connsiteX6" fmla="*/ 68013 w 9857035"/>
              <a:gd name="connsiteY6" fmla="*/ 408072 h 408072"/>
              <a:gd name="connsiteX7" fmla="*/ 0 w 9857035"/>
              <a:gd name="connsiteY7" fmla="*/ 340059 h 408072"/>
              <a:gd name="connsiteX8" fmla="*/ 0 w 9857035"/>
              <a:gd name="connsiteY8" fmla="*/ 68013 h 40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57035" h="408072">
                <a:moveTo>
                  <a:pt x="0" y="68013"/>
                </a:moveTo>
                <a:cubicBezTo>
                  <a:pt x="0" y="30450"/>
                  <a:pt x="30450" y="0"/>
                  <a:pt x="68013" y="0"/>
                </a:cubicBezTo>
                <a:lnTo>
                  <a:pt x="9789022" y="0"/>
                </a:lnTo>
                <a:cubicBezTo>
                  <a:pt x="9826585" y="0"/>
                  <a:pt x="9857035" y="30450"/>
                  <a:pt x="9857035" y="68013"/>
                </a:cubicBezTo>
                <a:lnTo>
                  <a:pt x="9857035" y="340059"/>
                </a:lnTo>
                <a:cubicBezTo>
                  <a:pt x="9857035" y="377622"/>
                  <a:pt x="9826585" y="408072"/>
                  <a:pt x="9789022" y="408072"/>
                </a:cubicBezTo>
                <a:lnTo>
                  <a:pt x="68013" y="408072"/>
                </a:lnTo>
                <a:cubicBezTo>
                  <a:pt x="30450" y="408072"/>
                  <a:pt x="0" y="377622"/>
                  <a:pt x="0" y="340059"/>
                </a:cubicBezTo>
                <a:lnTo>
                  <a:pt x="0" y="68013"/>
                </a:lnTo>
                <a:close/>
              </a:path>
            </a:pathLst>
          </a:cu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0" vert="horz" wrap="square" lIns="111360" tIns="111360" rIns="111360" bIns="111360" numCol="1" spcCol="1270" anchor="ctr" anchorCtr="0">
            <a:no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dirty="0"/>
              <a:t>Apps</a:t>
            </a:r>
            <a:r>
              <a:rPr lang="en-US" sz="1800" dirty="0"/>
              <a:t>: Transitive Closure (TC), Same Generation (SG), Connected Component (CC)</a:t>
            </a:r>
            <a:endParaRPr lang="en-US" sz="1800" kern="12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C2CA7B7-CCE8-62CF-8B23-329393670044}"/>
              </a:ext>
            </a:extLst>
          </p:cNvPr>
          <p:cNvSpPr txBox="1"/>
          <p:nvPr/>
        </p:nvSpPr>
        <p:spPr>
          <a:xfrm>
            <a:off x="8253818" y="20241546"/>
            <a:ext cx="771998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ea typeface="Open Sans"/>
                <a:cs typeface="Open Sans"/>
              </a:rPr>
              <a:t>Single-GPU evaluation for SG</a:t>
            </a:r>
            <a:endParaRPr lang="en-US" sz="2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24AC961-EFD1-28ED-E0B1-19A7A9561A3E}"/>
              </a:ext>
            </a:extLst>
          </p:cNvPr>
          <p:cNvSpPr txBox="1"/>
          <p:nvPr/>
        </p:nvSpPr>
        <p:spPr>
          <a:xfrm>
            <a:off x="802319" y="20221355"/>
            <a:ext cx="713411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ea typeface="Open Sans"/>
                <a:cs typeface="Open Sans"/>
              </a:rPr>
              <a:t>Single-GPU evaluation for TC</a:t>
            </a:r>
            <a:endParaRPr lang="en-US" sz="2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27BA89A-F448-93FD-77D1-BAA54C9F3D83}"/>
              </a:ext>
            </a:extLst>
          </p:cNvPr>
          <p:cNvSpPr txBox="1"/>
          <p:nvPr/>
        </p:nvSpPr>
        <p:spPr>
          <a:xfrm>
            <a:off x="24912799" y="15305931"/>
            <a:ext cx="724859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ea typeface="Open Sans"/>
                <a:cs typeface="Open Sans"/>
              </a:rPr>
              <a:t>Experiment environment</a:t>
            </a:r>
            <a:endParaRPr lang="en-US" sz="280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DE76B1F-55D9-AACE-BFA9-AC0DB593660D}"/>
              </a:ext>
            </a:extLst>
          </p:cNvPr>
          <p:cNvSpPr txBox="1"/>
          <p:nvPr/>
        </p:nvSpPr>
        <p:spPr>
          <a:xfrm>
            <a:off x="24882227" y="10077778"/>
            <a:ext cx="724859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ea typeface="Open Sans"/>
                <a:cs typeface="Open Sans"/>
              </a:rPr>
              <a:t>Materialization in fixed point iteration</a:t>
            </a:r>
            <a:endParaRPr lang="en-US" sz="2800" b="1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2062A58-30A9-1ABC-F05F-E453A35E0EB0}"/>
              </a:ext>
            </a:extLst>
          </p:cNvPr>
          <p:cNvSpPr txBox="1"/>
          <p:nvPr/>
        </p:nvSpPr>
        <p:spPr>
          <a:xfrm>
            <a:off x="24705601" y="21788113"/>
            <a:ext cx="724859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>
                <a:ea typeface="Open Sans"/>
                <a:cs typeface="Open Sans"/>
              </a:rPr>
              <a:t>Powerlog</a:t>
            </a:r>
            <a:r>
              <a:rPr lang="en-US" sz="2800" b="1" dirty="0">
                <a:ea typeface="Open Sans"/>
                <a:cs typeface="Open Sans"/>
              </a:rPr>
              <a:t> architecture</a:t>
            </a:r>
            <a:endParaRPr lang="en-US" sz="2800" b="1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256C996-7878-30A0-D066-FA001749FC6E}"/>
              </a:ext>
            </a:extLst>
          </p:cNvPr>
          <p:cNvSpPr txBox="1"/>
          <p:nvPr/>
        </p:nvSpPr>
        <p:spPr>
          <a:xfrm>
            <a:off x="17137537" y="21788113"/>
            <a:ext cx="719542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ea typeface="Open Sans"/>
                <a:cs typeface="Open Sans"/>
              </a:rPr>
              <a:t>Workflow for energy profiling</a:t>
            </a:r>
            <a:endParaRPr lang="en-US" sz="2800" b="1" dirty="0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ABAD563-88AE-6591-08AE-3767B157A47C}"/>
              </a:ext>
            </a:extLst>
          </p:cNvPr>
          <p:cNvGrpSpPr/>
          <p:nvPr/>
        </p:nvGrpSpPr>
        <p:grpSpPr>
          <a:xfrm>
            <a:off x="27367713" y="39189191"/>
            <a:ext cx="2212848" cy="1644839"/>
            <a:chOff x="4868478" y="1656283"/>
            <a:chExt cx="2286193" cy="1438536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39E80200-D88D-0E13-EF96-31249B231FDE}"/>
                </a:ext>
              </a:extLst>
            </p:cNvPr>
            <p:cNvGrpSpPr/>
            <p:nvPr/>
          </p:nvGrpSpPr>
          <p:grpSpPr>
            <a:xfrm>
              <a:off x="4868478" y="1656283"/>
              <a:ext cx="2286193" cy="1438536"/>
              <a:chOff x="4868478" y="1656283"/>
              <a:chExt cx="2286193" cy="1438536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1A491299-D138-AFF0-ECEA-3616CBF7525B}"/>
                  </a:ext>
                </a:extLst>
              </p:cNvPr>
              <p:cNvSpPr/>
              <p:nvPr/>
            </p:nvSpPr>
            <p:spPr>
              <a:xfrm>
                <a:off x="4868478" y="1656283"/>
                <a:ext cx="2285352" cy="1438536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115" name="TextBox 4">
                <a:extLst>
                  <a:ext uri="{FF2B5EF4-FFF2-40B4-BE49-F238E27FC236}">
                    <a16:creationId xmlns:a16="http://schemas.microsoft.com/office/drawing/2014/main" id="{90781039-64BA-C47F-7E8A-F168D7AC3485}"/>
                  </a:ext>
                </a:extLst>
              </p:cNvPr>
              <p:cNvSpPr txBox="1"/>
              <p:nvPr/>
            </p:nvSpPr>
            <p:spPr>
              <a:xfrm>
                <a:off x="4870312" y="1657468"/>
                <a:ext cx="2284359" cy="738664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cs typeface="Arial"/>
                  </a:rPr>
                  <a:t>Optimizing Datalog for the GPU</a:t>
                </a:r>
              </a:p>
            </p:txBody>
          </p:sp>
        </p:grpSp>
        <p:pic>
          <p:nvPicPr>
            <p:cNvPr id="113" name="Picture 112" descr="A white text on a gray background&#10;&#10;Description automatically generated">
              <a:extLst>
                <a:ext uri="{FF2B5EF4-FFF2-40B4-BE49-F238E27FC236}">
                  <a16:creationId xmlns:a16="http://schemas.microsoft.com/office/drawing/2014/main" id="{A5213586-9065-9B6D-F163-F81FE7124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890311" y="2560869"/>
              <a:ext cx="2234807" cy="419583"/>
            </a:xfrm>
            <a:prstGeom prst="rect">
              <a:avLst/>
            </a:prstGeom>
          </p:spPr>
        </p:pic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064F5AB-CA04-C81B-8C3A-CD835D0FE3A7}"/>
              </a:ext>
            </a:extLst>
          </p:cNvPr>
          <p:cNvGrpSpPr/>
          <p:nvPr/>
        </p:nvGrpSpPr>
        <p:grpSpPr>
          <a:xfrm>
            <a:off x="24825045" y="39189191"/>
            <a:ext cx="2212848" cy="1644839"/>
            <a:chOff x="1124025" y="1664476"/>
            <a:chExt cx="2286193" cy="1465149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E4F6D33-8171-6251-E72D-08284740DF2A}"/>
                </a:ext>
              </a:extLst>
            </p:cNvPr>
            <p:cNvSpPr/>
            <p:nvPr/>
          </p:nvSpPr>
          <p:spPr>
            <a:xfrm>
              <a:off x="1124025" y="1664476"/>
              <a:ext cx="2285353" cy="1465149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800">
                <a:solidFill>
                  <a:srgbClr val="000000"/>
                </a:solidFill>
              </a:endParaRPr>
            </a:p>
          </p:txBody>
        </p:sp>
        <p:sp>
          <p:nvSpPr>
            <p:cNvPr id="118" name="TextBox 15">
              <a:extLst>
                <a:ext uri="{FF2B5EF4-FFF2-40B4-BE49-F238E27FC236}">
                  <a16:creationId xmlns:a16="http://schemas.microsoft.com/office/drawing/2014/main" id="{96FBD8C6-83C6-106F-4138-2AAFAAEEE884}"/>
                </a:ext>
              </a:extLst>
            </p:cNvPr>
            <p:cNvSpPr txBox="1"/>
            <p:nvPr/>
          </p:nvSpPr>
          <p:spPr>
            <a:xfrm>
              <a:off x="1125857" y="1665660"/>
              <a:ext cx="2284361" cy="1190678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rgbClr val="000000"/>
                  </a:solidFill>
                  <a:cs typeface="Arial"/>
                </a:rPr>
                <a:t>Towards iterative relational algebra on the {GPU}</a:t>
              </a:r>
            </a:p>
            <a:p>
              <a:pPr algn="l"/>
              <a:endParaRPr lang="en-US" sz="1400" dirty="0">
                <a:solidFill>
                  <a:srgbClr val="000000"/>
                </a:solidFill>
                <a:cs typeface="Arial"/>
              </a:endParaRPr>
            </a:p>
          </p:txBody>
        </p:sp>
        <p:pic>
          <p:nvPicPr>
            <p:cNvPr id="119" name="Picture 118" descr="A blue sign with yellow letters&#10;&#10;Description automatically generated">
              <a:extLst>
                <a:ext uri="{FF2B5EF4-FFF2-40B4-BE49-F238E27FC236}">
                  <a16:creationId xmlns:a16="http://schemas.microsoft.com/office/drawing/2014/main" id="{882FFCD3-4892-D5A0-B53F-90746A832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542785" y="2331622"/>
              <a:ext cx="1568511" cy="772306"/>
            </a:xfrm>
            <a:prstGeom prst="rect">
              <a:avLst/>
            </a:prstGeom>
          </p:spPr>
        </p:pic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DC86FB4-D4A6-D4D3-BE36-77B2E488AE37}"/>
              </a:ext>
            </a:extLst>
          </p:cNvPr>
          <p:cNvGrpSpPr/>
          <p:nvPr/>
        </p:nvGrpSpPr>
        <p:grpSpPr>
          <a:xfrm>
            <a:off x="22282377" y="39189191"/>
            <a:ext cx="2212848" cy="1644839"/>
            <a:chOff x="7451481" y="1664477"/>
            <a:chExt cx="1644429" cy="1451453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A213A0B5-BC53-A26A-BE9F-702847E214C8}"/>
                </a:ext>
              </a:extLst>
            </p:cNvPr>
            <p:cNvGrpSpPr/>
            <p:nvPr/>
          </p:nvGrpSpPr>
          <p:grpSpPr>
            <a:xfrm>
              <a:off x="7451481" y="1664477"/>
              <a:ext cx="1644429" cy="1451453"/>
              <a:chOff x="7476376" y="1664477"/>
              <a:chExt cx="2184680" cy="1451453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7E964F24-07DF-B9BD-D7F0-AE91B0987FA0}"/>
                  </a:ext>
                </a:extLst>
              </p:cNvPr>
              <p:cNvSpPr/>
              <p:nvPr/>
            </p:nvSpPr>
            <p:spPr>
              <a:xfrm>
                <a:off x="7476376" y="1664477"/>
                <a:ext cx="2184680" cy="145145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4" name="TextBox 6">
                <a:extLst>
                  <a:ext uri="{FF2B5EF4-FFF2-40B4-BE49-F238E27FC236}">
                    <a16:creationId xmlns:a16="http://schemas.microsoft.com/office/drawing/2014/main" id="{228AA929-22DE-EF4A-616D-84C8B6041E31}"/>
                  </a:ext>
                </a:extLst>
              </p:cNvPr>
              <p:cNvSpPr txBox="1"/>
              <p:nvPr/>
            </p:nvSpPr>
            <p:spPr>
              <a:xfrm>
                <a:off x="7498692" y="1665662"/>
                <a:ext cx="2086493" cy="415261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solidFill>
                      <a:srgbClr val="000000"/>
                    </a:solidFill>
                    <a:cs typeface="Arial"/>
                  </a:rPr>
                  <a:t>Accelerating Datalog applications with </a:t>
                </a:r>
                <a:r>
                  <a:rPr lang="en-US" sz="1400" dirty="0" err="1">
                    <a:solidFill>
                      <a:srgbClr val="000000"/>
                    </a:solidFill>
                    <a:cs typeface="Arial"/>
                  </a:rPr>
                  <a:t>cuDF</a:t>
                </a:r>
                <a:endParaRPr lang="en-US" sz="1400" dirty="0">
                  <a:solidFill>
                    <a:srgbClr val="000000"/>
                  </a:solidFill>
                  <a:cs typeface="Arial"/>
                </a:endParaRPr>
              </a:p>
            </p:txBody>
          </p:sp>
        </p:grpSp>
        <p:pic>
          <p:nvPicPr>
            <p:cNvPr id="122" name="Picture 121" descr="A number on a white background&#10;&#10;Description automatically generated">
              <a:extLst>
                <a:ext uri="{FF2B5EF4-FFF2-40B4-BE49-F238E27FC236}">
                  <a16:creationId xmlns:a16="http://schemas.microsoft.com/office/drawing/2014/main" id="{3D101058-F1DF-F511-45DC-248FCC5B0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7500294" y="2530322"/>
              <a:ext cx="1523837" cy="512970"/>
            </a:xfrm>
            <a:prstGeom prst="rect">
              <a:avLst/>
            </a:prstGeom>
          </p:spPr>
        </p:pic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CD1BCE2-0D3D-BBD3-20B4-ACA6B1D20E55}"/>
              </a:ext>
            </a:extLst>
          </p:cNvPr>
          <p:cNvGrpSpPr/>
          <p:nvPr/>
        </p:nvGrpSpPr>
        <p:grpSpPr>
          <a:xfrm>
            <a:off x="29910381" y="39189191"/>
            <a:ext cx="2212848" cy="1644839"/>
            <a:chOff x="4868478" y="1656283"/>
            <a:chExt cx="2078999" cy="1438537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37E5DECD-E49E-874C-4DBC-0C2BE0EBCE53}"/>
                </a:ext>
              </a:extLst>
            </p:cNvPr>
            <p:cNvGrpSpPr/>
            <p:nvPr/>
          </p:nvGrpSpPr>
          <p:grpSpPr>
            <a:xfrm>
              <a:off x="4868478" y="1656283"/>
              <a:ext cx="2078999" cy="1438536"/>
              <a:chOff x="4868478" y="1656283"/>
              <a:chExt cx="2078999" cy="1438536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343E21A4-6E89-6713-AC7F-C709E095BEB0}"/>
                  </a:ext>
                </a:extLst>
              </p:cNvPr>
              <p:cNvSpPr/>
              <p:nvPr/>
            </p:nvSpPr>
            <p:spPr>
              <a:xfrm>
                <a:off x="4868478" y="1656283"/>
                <a:ext cx="2078999" cy="1438536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9" name="TextBox 4">
                <a:extLst>
                  <a:ext uri="{FF2B5EF4-FFF2-40B4-BE49-F238E27FC236}">
                    <a16:creationId xmlns:a16="http://schemas.microsoft.com/office/drawing/2014/main" id="{80BCC254-D742-50D6-D46A-F9934FDAE0F1}"/>
                  </a:ext>
                </a:extLst>
              </p:cNvPr>
              <p:cNvSpPr txBox="1"/>
              <p:nvPr/>
            </p:nvSpPr>
            <p:spPr>
              <a:xfrm>
                <a:off x="4870312" y="1657468"/>
                <a:ext cx="2015925" cy="4115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cs typeface="Arial"/>
                  </a:rPr>
                  <a:t>Multi-node multi-GPU </a:t>
                </a:r>
                <a:r>
                  <a:rPr lang="en-US" sz="1400" dirty="0" err="1">
                    <a:cs typeface="Arial"/>
                  </a:rPr>
                  <a:t>Datalog</a:t>
                </a:r>
                <a:endParaRPr lang="en-US" sz="1800" dirty="0"/>
              </a:p>
            </p:txBody>
          </p:sp>
        </p:grpSp>
        <p:pic>
          <p:nvPicPr>
            <p:cNvPr id="127" name="Picture 126" descr="ICS 2025(Salt Lake City UT) - ACM International Conference on ...">
              <a:extLst>
                <a:ext uri="{FF2B5EF4-FFF2-40B4-BE49-F238E27FC236}">
                  <a16:creationId xmlns:a16="http://schemas.microsoft.com/office/drawing/2014/main" id="{E5A03679-B1C4-A059-276F-7889BD34A3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4911852" y="2302344"/>
              <a:ext cx="2008242" cy="792476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pic>
      </p:grpSp>
      <p:pic>
        <p:nvPicPr>
          <p:cNvPr id="130" name="Picture 129">
            <a:extLst>
              <a:ext uri="{FF2B5EF4-FFF2-40B4-BE49-F238E27FC236}">
                <a16:creationId xmlns:a16="http://schemas.microsoft.com/office/drawing/2014/main" id="{8B8FD3F8-07E4-CFEB-4604-FE0D9B73FCD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7425444" y="31681860"/>
            <a:ext cx="6707838" cy="1769219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F089FF85-9D72-7D8A-5405-7BF33D30F7C4}"/>
              </a:ext>
            </a:extLst>
          </p:cNvPr>
          <p:cNvSpPr txBox="1"/>
          <p:nvPr/>
        </p:nvSpPr>
        <p:spPr>
          <a:xfrm>
            <a:off x="17183747" y="30964272"/>
            <a:ext cx="719542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ea typeface="Open Sans"/>
                <a:cs typeface="Open Sans"/>
              </a:rPr>
              <a:t>Comparison of GPU </a:t>
            </a:r>
            <a:r>
              <a:rPr lang="en-US" sz="2800" b="1" dirty="0" err="1">
                <a:ea typeface="Open Sans"/>
                <a:cs typeface="Open Sans"/>
              </a:rPr>
              <a:t>Datalog</a:t>
            </a:r>
            <a:r>
              <a:rPr lang="en-US" sz="2800" b="1" dirty="0">
                <a:ea typeface="Open Sans"/>
                <a:cs typeface="Open Sans"/>
              </a:rPr>
              <a:t> engines </a:t>
            </a:r>
            <a:endParaRPr lang="en-US" sz="2800" b="1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B540785-A2A4-B450-94F0-375D98A6959A}"/>
              </a:ext>
            </a:extLst>
          </p:cNvPr>
          <p:cNvSpPr txBox="1"/>
          <p:nvPr/>
        </p:nvSpPr>
        <p:spPr>
          <a:xfrm>
            <a:off x="22139557" y="38444504"/>
            <a:ext cx="1009497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 err="1">
                <a:ea typeface="Open Sans"/>
                <a:cs typeface="Open Sans"/>
              </a:rPr>
              <a:t>MNMGDatalog</a:t>
            </a:r>
            <a:r>
              <a:rPr lang="en-US" sz="3600" b="1" dirty="0">
                <a:ea typeface="Open Sans"/>
                <a:cs typeface="Open Sans"/>
              </a:rPr>
              <a:t> evolution</a:t>
            </a:r>
            <a:endParaRPr lang="en-US" sz="3600" b="1" dirty="0"/>
          </a:p>
        </p:txBody>
      </p:sp>
      <p:sp>
        <p:nvSpPr>
          <p:cNvPr id="136" name="Right Arrow 135">
            <a:extLst>
              <a:ext uri="{FF2B5EF4-FFF2-40B4-BE49-F238E27FC236}">
                <a16:creationId xmlns:a16="http://schemas.microsoft.com/office/drawing/2014/main" id="{07BC2A7B-1182-2CE4-468B-25D47B84519A}"/>
              </a:ext>
            </a:extLst>
          </p:cNvPr>
          <p:cNvSpPr/>
          <p:nvPr/>
        </p:nvSpPr>
        <p:spPr>
          <a:xfrm>
            <a:off x="24543474" y="39925098"/>
            <a:ext cx="262148" cy="17417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ight Arrow 136">
            <a:extLst>
              <a:ext uri="{FF2B5EF4-FFF2-40B4-BE49-F238E27FC236}">
                <a16:creationId xmlns:a16="http://schemas.microsoft.com/office/drawing/2014/main" id="{C99C7AA3-B33E-C0F1-AEDE-D12C7CD1552D}"/>
              </a:ext>
            </a:extLst>
          </p:cNvPr>
          <p:cNvSpPr/>
          <p:nvPr/>
        </p:nvSpPr>
        <p:spPr>
          <a:xfrm>
            <a:off x="27084547" y="39925098"/>
            <a:ext cx="262148" cy="17417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ight Arrow 137">
            <a:extLst>
              <a:ext uri="{FF2B5EF4-FFF2-40B4-BE49-F238E27FC236}">
                <a16:creationId xmlns:a16="http://schemas.microsoft.com/office/drawing/2014/main" id="{C687C796-EC70-56EF-8625-33F5EA96B7D3}"/>
              </a:ext>
            </a:extLst>
          </p:cNvPr>
          <p:cNvSpPr/>
          <p:nvPr/>
        </p:nvSpPr>
        <p:spPr>
          <a:xfrm>
            <a:off x="29625062" y="39925098"/>
            <a:ext cx="262148" cy="17417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theme/theme1.xml><?xml version="1.0" encoding="utf-8"?>
<a:theme xmlns:a="http://schemas.openxmlformats.org/drawingml/2006/main" name="*presentation_4x3 1-11-16">
  <a:themeElements>
    <a:clrScheme name="Argonne Scientific Posters">
      <a:dk1>
        <a:srgbClr val="47484A"/>
      </a:dk1>
      <a:lt1>
        <a:srgbClr val="FFFFFF"/>
      </a:lt1>
      <a:dk2>
        <a:srgbClr val="0082CA"/>
      </a:dk2>
      <a:lt2>
        <a:srgbClr val="F8B200"/>
      </a:lt2>
      <a:accent1>
        <a:srgbClr val="77B300"/>
      </a:accent1>
      <a:accent2>
        <a:srgbClr val="00609C"/>
      </a:accent2>
      <a:accent3>
        <a:srgbClr val="5B0091"/>
      </a:accent3>
      <a:accent4>
        <a:srgbClr val="FF7900"/>
      </a:accent4>
      <a:accent5>
        <a:srgbClr val="00A19C"/>
      </a:accent5>
      <a:accent6>
        <a:srgbClr val="CD202C"/>
      </a:accent6>
      <a:hlink>
        <a:srgbClr val="000000"/>
      </a:hlink>
      <a:folHlink>
        <a:srgbClr val="66666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presentation_4x3 1-11-16</Template>
  <TotalTime>4762</TotalTime>
  <Words>649</Words>
  <Application>Microsoft Macintosh PowerPoint</Application>
  <PresentationFormat>Custom</PresentationFormat>
  <Paragraphs>106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Consolas</vt:lpstr>
      <vt:lpstr>Open Sans</vt:lpstr>
      <vt:lpstr>Wingdings</vt:lpstr>
      <vt:lpstr>*presentation_4x3 1-11-16</vt:lpstr>
      <vt:lpstr>Scalable Multi-Node Multi-GPU Datalog Engine with Energy-Aware Profiling</vt:lpstr>
    </vt:vector>
  </TitlesOfParts>
  <Company>M7Graphics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MJ</dc:creator>
  <cp:lastModifiedBy>Shovon, Ahmedur Rahman</cp:lastModifiedBy>
  <cp:revision>217</cp:revision>
  <cp:lastPrinted>2016-03-15T21:49:00Z</cp:lastPrinted>
  <dcterms:created xsi:type="dcterms:W3CDTF">2016-01-12T15:59:02Z</dcterms:created>
  <dcterms:modified xsi:type="dcterms:W3CDTF">2025-10-23T05:29:55Z</dcterms:modified>
</cp:coreProperties>
</file>