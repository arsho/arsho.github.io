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61" r:id="rId2"/>
  </p:sldIdLst>
  <p:sldSz cx="29260800" cy="32918400"/>
  <p:notesSz cx="6858000" cy="9144000"/>
  <p:embeddedFontLst>
    <p:embeddedFont>
      <p:font typeface="Bree Serif" panose="02000503040000020004" pitchFamily="2" charset="77"/>
      <p:regular r:id="rId4"/>
    </p:embeddedFont>
    <p:embeddedFont>
      <p:font typeface="Consolas" panose="020B0609020204030204" pitchFamily="49" charset="0"/>
      <p:regular r:id="rId5"/>
      <p:bold r:id="rId6"/>
      <p:italic r:id="rId7"/>
      <p:boldItalic r:id="rId8"/>
    </p:embeddedFont>
    <p:embeddedFont>
      <p:font typeface="Open Sans" panose="020B0606030504020204" pitchFamily="34" charset="0"/>
      <p:regular r:id="rId9"/>
      <p:bold r:id="rId10"/>
      <p:italic r:id="rId11"/>
      <p:boldItalic r:id="rId12"/>
    </p:embeddedFont>
  </p:embeddedFontLst>
  <p:custDataLst>
    <p:tags r:id="rId13"/>
  </p:custDataLst>
  <p:defaultTextStyle>
    <a:defPPr>
      <a:defRPr lang="en-US"/>
    </a:defPPr>
    <a:lvl1pPr marL="0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8pPr>
    <a:lvl9pPr marL="17556114" algn="l" defTabSz="4389028" rtl="0" eaLnBrk="1" latinLnBrk="0" hangingPunct="1">
      <a:defRPr sz="8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92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14FF0-0CD2-0423-9B9A-5812EAC0B4E7}" v="52" dt="2025-08-26T06:32:09.739"/>
    <p1510:client id="{DE519EAF-6010-63D8-7BB1-97A47EE12868}" v="2152" dt="2025-08-25T20:38:52.8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67"/>
    <p:restoredTop sz="96307" autoAdjust="0"/>
  </p:normalViewPr>
  <p:slideViewPr>
    <p:cSldViewPr snapToGrid="0">
      <p:cViewPr>
        <p:scale>
          <a:sx n="30" d="100"/>
          <a:sy n="30" d="100"/>
        </p:scale>
        <p:origin x="4400" y="360"/>
      </p:cViewPr>
      <p:guideLst>
        <p:guide orient="horz" pos="10368"/>
        <p:guide pos="9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gs" Target="tags/tag1.xml"/><Relationship Id="rId1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514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9028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3543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8057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2571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7085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61599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6114" algn="l" defTabSz="4389028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25895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161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1404" y="21153123"/>
            <a:ext cx="24871681" cy="6537960"/>
          </a:xfrm>
        </p:spPr>
        <p:txBody>
          <a:bodyPr anchor="t"/>
          <a:lstStyle>
            <a:defPPr>
              <a:defRPr kern="1200"/>
            </a:defPPr>
            <a:lvl1pPr algn="l">
              <a:defRPr sz="19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11404" y="13952226"/>
            <a:ext cx="24871681" cy="720089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9700">
                <a:solidFill>
                  <a:schemeClr val="tx1">
                    <a:tint val="75000"/>
                  </a:schemeClr>
                </a:solidFill>
              </a:defRPr>
            </a:lvl1pPr>
            <a:lvl2pPr marL="2194514" indent="0">
              <a:buNone/>
              <a:defRPr sz="8700">
                <a:solidFill>
                  <a:schemeClr val="tx1">
                    <a:tint val="75000"/>
                  </a:schemeClr>
                </a:solidFill>
              </a:defRPr>
            </a:lvl2pPr>
            <a:lvl3pPr marL="4389028" indent="0">
              <a:buNone/>
              <a:defRPr sz="7700">
                <a:solidFill>
                  <a:schemeClr val="tx1">
                    <a:tint val="75000"/>
                  </a:schemeClr>
                </a:solidFill>
              </a:defRPr>
            </a:lvl3pPr>
            <a:lvl4pPr marL="6583543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4pPr>
            <a:lvl5pPr marL="8778057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5pPr>
            <a:lvl6pPr marL="10972571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6pPr>
            <a:lvl7pPr marL="13167085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7pPr>
            <a:lvl8pPr marL="15361599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8pPr>
            <a:lvl9pPr marL="17556114" indent="0">
              <a:buNone/>
              <a:defRPr sz="6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4871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267963" y="24582122"/>
            <a:ext cx="47157639" cy="69517264"/>
          </a:xfrm>
        </p:spPr>
        <p:txBody>
          <a:bodyPr/>
          <a:lstStyle>
            <a:defPPr>
              <a:defRPr kern="1200"/>
            </a:defPPr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913281" y="24582122"/>
            <a:ext cx="47157643" cy="69517264"/>
          </a:xfrm>
        </p:spPr>
        <p:txBody>
          <a:bodyPr/>
          <a:lstStyle>
            <a:defPPr>
              <a:defRPr kern="1200"/>
            </a:defPPr>
            <a:lvl1pPr>
              <a:defRPr sz="13400"/>
            </a:lvl1pPr>
            <a:lvl2pPr>
              <a:defRPr sz="11500"/>
            </a:lvl2pPr>
            <a:lvl3pPr>
              <a:defRPr sz="9700"/>
            </a:lvl3pPr>
            <a:lvl4pPr>
              <a:defRPr sz="8700"/>
            </a:lvl4pPr>
            <a:lvl5pPr>
              <a:defRPr sz="8700"/>
            </a:lvl5pPr>
            <a:lvl6pPr>
              <a:defRPr sz="8700"/>
            </a:lvl6pPr>
            <a:lvl7pPr>
              <a:defRPr sz="8700"/>
            </a:lvl7pPr>
            <a:lvl8pPr>
              <a:defRPr sz="8700"/>
            </a:lvl8pPr>
            <a:lvl9pPr>
              <a:defRPr sz="8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0826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2" y="1318263"/>
            <a:ext cx="26334719" cy="5486400"/>
          </a:xfrm>
        </p:spPr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2" y="7368545"/>
            <a:ext cx="12928601" cy="307085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4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3042" y="10439402"/>
            <a:ext cx="12928601" cy="18966183"/>
          </a:xfrm>
        </p:spPr>
        <p:txBody>
          <a:bodyPr/>
          <a:lstStyle>
            <a:defPPr>
              <a:defRPr kern="1200"/>
            </a:defPPr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864081" y="7368545"/>
            <a:ext cx="12933680" cy="3070857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11500" b="1"/>
            </a:lvl1pPr>
            <a:lvl2pPr marL="2194514" indent="0">
              <a:buNone/>
              <a:defRPr sz="9700" b="1"/>
            </a:lvl2pPr>
            <a:lvl3pPr marL="4389028" indent="0">
              <a:buNone/>
              <a:defRPr sz="8700" b="1"/>
            </a:lvl3pPr>
            <a:lvl4pPr marL="6583543" indent="0">
              <a:buNone/>
              <a:defRPr sz="7700" b="1"/>
            </a:lvl4pPr>
            <a:lvl5pPr marL="8778057" indent="0">
              <a:buNone/>
              <a:defRPr sz="7700" b="1"/>
            </a:lvl5pPr>
            <a:lvl6pPr marL="10972571" indent="0">
              <a:buNone/>
              <a:defRPr sz="7700" b="1"/>
            </a:lvl6pPr>
            <a:lvl7pPr marL="13167085" indent="0">
              <a:buNone/>
              <a:defRPr sz="7700" b="1"/>
            </a:lvl7pPr>
            <a:lvl8pPr marL="15361599" indent="0">
              <a:buNone/>
              <a:defRPr sz="7700" b="1"/>
            </a:lvl8pPr>
            <a:lvl9pPr marL="17556114" indent="0">
              <a:buNone/>
              <a:defRPr sz="7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864081" y="10439402"/>
            <a:ext cx="12933680" cy="18966183"/>
          </a:xfrm>
        </p:spPr>
        <p:txBody>
          <a:bodyPr/>
          <a:lstStyle>
            <a:defPPr>
              <a:defRPr kern="1200"/>
            </a:defPPr>
            <a:lvl1pPr>
              <a:defRPr sz="11500"/>
            </a:lvl1pPr>
            <a:lvl2pPr>
              <a:defRPr sz="9700"/>
            </a:lvl2pPr>
            <a:lvl3pPr>
              <a:defRPr sz="8700"/>
            </a:lvl3pPr>
            <a:lvl4pPr>
              <a:defRPr sz="7700"/>
            </a:lvl4pPr>
            <a:lvl5pPr>
              <a:defRPr sz="7700"/>
            </a:lvl5pPr>
            <a:lvl6pPr>
              <a:defRPr sz="7700"/>
            </a:lvl6pPr>
            <a:lvl7pPr>
              <a:defRPr sz="7700"/>
            </a:lvl7pPr>
            <a:lvl8pPr>
              <a:defRPr sz="7700"/>
            </a:lvl8pPr>
            <a:lvl9pPr>
              <a:defRPr sz="7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14171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2661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98495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5" y="1310640"/>
            <a:ext cx="9626601" cy="5577840"/>
          </a:xfrm>
        </p:spPr>
        <p:txBody>
          <a:bodyPr anchor="b"/>
          <a:lstStyle>
            <a:defPPr>
              <a:defRPr kern="1200"/>
            </a:defPPr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40159" y="1310641"/>
            <a:ext cx="16357600" cy="28094942"/>
          </a:xfrm>
        </p:spPr>
        <p:txBody>
          <a:bodyPr/>
          <a:lstStyle>
            <a:defPPr>
              <a:defRPr kern="1200"/>
            </a:defPPr>
            <a:lvl1pPr>
              <a:defRPr sz="15400"/>
            </a:lvl1pPr>
            <a:lvl2pPr>
              <a:defRPr sz="13400"/>
            </a:lvl2pPr>
            <a:lvl3pPr>
              <a:defRPr sz="11500"/>
            </a:lvl3pPr>
            <a:lvl4pPr>
              <a:defRPr sz="9700"/>
            </a:lvl4pPr>
            <a:lvl5pPr>
              <a:defRPr sz="9700"/>
            </a:lvl5pPr>
            <a:lvl6pPr>
              <a:defRPr sz="9700"/>
            </a:lvl6pPr>
            <a:lvl7pPr>
              <a:defRPr sz="9700"/>
            </a:lvl7pPr>
            <a:lvl8pPr>
              <a:defRPr sz="9700"/>
            </a:lvl8pPr>
            <a:lvl9pPr>
              <a:defRPr sz="9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63045" y="6888483"/>
            <a:ext cx="9626601" cy="22517103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4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2620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5324" y="23042882"/>
            <a:ext cx="17556481" cy="2720343"/>
          </a:xfrm>
        </p:spPr>
        <p:txBody>
          <a:bodyPr anchor="b"/>
          <a:lstStyle>
            <a:defPPr>
              <a:defRPr kern="1200"/>
            </a:defPPr>
            <a:lvl1pPr algn="l">
              <a:defRPr sz="9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735324" y="2941322"/>
            <a:ext cx="17556481" cy="19751039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5400"/>
            </a:lvl1pPr>
            <a:lvl2pPr marL="2194514" indent="0">
              <a:buNone/>
              <a:defRPr sz="13400"/>
            </a:lvl2pPr>
            <a:lvl3pPr marL="4389028" indent="0">
              <a:buNone/>
              <a:defRPr sz="11500"/>
            </a:lvl3pPr>
            <a:lvl4pPr marL="6583543" indent="0">
              <a:buNone/>
              <a:defRPr sz="9700"/>
            </a:lvl4pPr>
            <a:lvl5pPr marL="8778057" indent="0">
              <a:buNone/>
              <a:defRPr sz="9700"/>
            </a:lvl5pPr>
            <a:lvl6pPr marL="10972571" indent="0">
              <a:buNone/>
              <a:defRPr sz="9700"/>
            </a:lvl6pPr>
            <a:lvl7pPr marL="13167085" indent="0">
              <a:buNone/>
              <a:defRPr sz="9700"/>
            </a:lvl7pPr>
            <a:lvl8pPr marL="15361599" indent="0">
              <a:buNone/>
              <a:defRPr sz="9700"/>
            </a:lvl8pPr>
            <a:lvl9pPr marL="17556114" indent="0">
              <a:buNone/>
              <a:defRPr sz="9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35324" y="25763225"/>
            <a:ext cx="17556481" cy="386333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6700"/>
            </a:lvl1pPr>
            <a:lvl2pPr marL="2194514" indent="0">
              <a:buNone/>
              <a:defRPr sz="5700"/>
            </a:lvl2pPr>
            <a:lvl3pPr marL="4389028" indent="0">
              <a:buNone/>
              <a:defRPr sz="4800"/>
            </a:lvl3pPr>
            <a:lvl4pPr marL="6583543" indent="0">
              <a:buNone/>
              <a:defRPr sz="4300"/>
            </a:lvl4pPr>
            <a:lvl5pPr marL="8778057" indent="0">
              <a:buNone/>
              <a:defRPr sz="4300"/>
            </a:lvl5pPr>
            <a:lvl6pPr marL="10972571" indent="0">
              <a:buNone/>
              <a:defRPr sz="4300"/>
            </a:lvl6pPr>
            <a:lvl7pPr marL="13167085" indent="0">
              <a:buNone/>
              <a:defRPr sz="4300"/>
            </a:lvl7pPr>
            <a:lvl8pPr marL="15361599" indent="0">
              <a:buNone/>
              <a:defRPr sz="4300"/>
            </a:lvl8pPr>
            <a:lvl9pPr marL="17556114" indent="0">
              <a:buNone/>
              <a:defRPr sz="4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4171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57645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372725" y="4221482"/>
            <a:ext cx="23698201" cy="89877900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67966" y="4221482"/>
            <a:ext cx="70617076" cy="89877900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28983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2" y="1318263"/>
            <a:ext cx="26334719" cy="5486400"/>
          </a:xfrm>
          <a:prstGeom prst="rect">
            <a:avLst/>
          </a:prstGeom>
        </p:spPr>
        <p:txBody>
          <a:bodyPr vert="horz" lIns="438903" tIns="219451" rIns="438903" bIns="219451" rtlCol="0" anchor="ctr">
            <a:normAutofit/>
          </a:bodyPr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2" y="7680963"/>
            <a:ext cx="26334719" cy="21724623"/>
          </a:xfrm>
          <a:prstGeom prst="rect">
            <a:avLst/>
          </a:prstGeom>
        </p:spPr>
        <p:txBody>
          <a:bodyPr vert="horz" lIns="438903" tIns="219451" rIns="438903" bIns="219451" rtlCol="0">
            <a:normAutofit/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63040" y="30510482"/>
            <a:ext cx="682752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/>
            </a:defPPr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C7F76D-A730-4432-85DE-CA47D32BB251}" type="datetimeFigureOut">
              <a:rPr lang="en-US" smtClean="0"/>
              <a:t>9/11/25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997441" y="30510482"/>
            <a:ext cx="926592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/>
            </a:defPPr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970241" y="30510482"/>
            <a:ext cx="6827520" cy="1752600"/>
          </a:xfrm>
          <a:prstGeom prst="rect">
            <a:avLst/>
          </a:prstGeom>
        </p:spPr>
        <p:txBody>
          <a:bodyPr vert="horz" lIns="438903" tIns="219451" rIns="438903" bIns="219451" rtlCol="0" anchor="ctr"/>
          <a:lstStyle>
            <a:defPPr>
              <a:defRPr kern="1200"/>
            </a:defPPr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57CD0-55F5-4017-8E2F-F1A5FF8435B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9762067" y="17115367"/>
            <a:ext cx="14274800" cy="2624667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4748068" y="17115367"/>
            <a:ext cx="14274800" cy="2624667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4631267" y="33426400"/>
            <a:ext cx="19998267" cy="1447800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4631267" y="33997901"/>
            <a:ext cx="146304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contemplativecloud  Size: 48x36</a:t>
            </a:r>
          </a:p>
        </p:txBody>
      </p:sp>
    </p:spTree>
    <p:extLst>
      <p:ext uri="{BB962C8B-B14F-4D97-AF65-F5344CB8AC3E}">
        <p14:creationId xmlns:p14="http://schemas.microsoft.com/office/powerpoint/2010/main" val="11913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389028" rtl="0" eaLnBrk="1" latinLnBrk="0" hangingPunct="1">
        <a:spcBef>
          <a:spcPct val="0"/>
        </a:spcBef>
        <a:buNone/>
        <a:defRPr sz="2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1645886" indent="-1645886" algn="l" defTabSz="4389028" rtl="0" eaLnBrk="1" latinLnBrk="0" hangingPunct="1">
        <a:spcBef>
          <a:spcPct val="20000"/>
        </a:spcBef>
        <a:buFont typeface="Arial" pitchFamily="34" charset="0"/>
        <a:buChar char="•"/>
        <a:defRPr sz="15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7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1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jpeg"/><Relationship Id="rId26" Type="http://schemas.openxmlformats.org/officeDocument/2006/relationships/image" Target="../media/image26.png"/><Relationship Id="rId3" Type="http://schemas.openxmlformats.org/officeDocument/2006/relationships/image" Target="../media/image4.png"/><Relationship Id="rId21" Type="http://schemas.openxmlformats.org/officeDocument/2006/relationships/image" Target="../media/image21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jpeg"/><Relationship Id="rId25" Type="http://schemas.openxmlformats.org/officeDocument/2006/relationships/image" Target="../media/image25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4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10" Type="http://schemas.openxmlformats.org/officeDocument/2006/relationships/image" Target="../media/image11.png"/><Relationship Id="rId19" Type="http://schemas.openxmlformats.org/officeDocument/2006/relationships/hyperlink" Target="https://blog.aspb.org/agency-update-nsf-seeks-members-for-stem-education-advisory-panel/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50A63-D9A8-AA79-431E-EA62DA4B0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F2003CE2-7833-56ED-2D4B-E97D9CB359C0}"/>
              </a:ext>
            </a:extLst>
          </p:cNvPr>
          <p:cNvSpPr/>
          <p:nvPr/>
        </p:nvSpPr>
        <p:spPr>
          <a:xfrm>
            <a:off x="-9497" y="6137"/>
            <a:ext cx="29300080" cy="3349460"/>
          </a:xfrm>
          <a:prstGeom prst="rect">
            <a:avLst/>
          </a:prstGeom>
          <a:gradFill flip="none" rotWithShape="1">
            <a:gsLst>
              <a:gs pos="0">
                <a:srgbClr val="8CB1BE"/>
              </a:gs>
              <a:gs pos="9000">
                <a:srgbClr val="E1EBEF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309C1DA1-A7D9-B8D1-5BEB-A2DE56A110AF}"/>
              </a:ext>
            </a:extLst>
          </p:cNvPr>
          <p:cNvSpPr txBox="1"/>
          <p:nvPr/>
        </p:nvSpPr>
        <p:spPr>
          <a:xfrm>
            <a:off x="1366554" y="597755"/>
            <a:ext cx="27894246" cy="1123058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solidFill>
                  <a:srgbClr val="C00000"/>
                </a:solidFill>
                <a:latin typeface="Bree Serif"/>
                <a:ea typeface="+mn-lt"/>
                <a:cs typeface="+mn-lt"/>
              </a:rPr>
              <a:t>Scalable Multi-Node Multi-GPU </a:t>
            </a:r>
            <a:r>
              <a:rPr lang="en-US" sz="4000" b="1" dirty="0">
                <a:solidFill>
                  <a:srgbClr val="C00000"/>
                </a:solidFill>
                <a:effectLst/>
                <a:latin typeface="Bree Serif"/>
                <a:ea typeface="+mn-lt"/>
                <a:cs typeface="+mn-lt"/>
              </a:rPr>
              <a:t>Datalog </a:t>
            </a:r>
            <a:r>
              <a:rPr lang="en-US" sz="4000" b="1" dirty="0">
                <a:solidFill>
                  <a:srgbClr val="C00000"/>
                </a:solidFill>
                <a:latin typeface="Bree Serif"/>
                <a:ea typeface="+mn-lt"/>
                <a:cs typeface="+mn-lt"/>
              </a:rPr>
              <a:t>Engine with Energy-Aware Profiling</a:t>
            </a:r>
            <a:endParaRPr lang="en-US" sz="4000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9AFA8872-B44D-D7FA-9B61-D6791718B868}"/>
              </a:ext>
            </a:extLst>
          </p:cNvPr>
          <p:cNvSpPr txBox="1"/>
          <p:nvPr/>
        </p:nvSpPr>
        <p:spPr>
          <a:xfrm>
            <a:off x="-14822" y="1668949"/>
            <a:ext cx="29301115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dirty="0">
                <a:latin typeface="Open Sans"/>
                <a:ea typeface="Open Sans"/>
                <a:cs typeface="Open Sans"/>
              </a:rPr>
              <a:t>Ahmedur Rahman Shovon (ashovon@anl.gov)</a:t>
            </a:r>
            <a:endParaRPr lang="en-US" sz="3600" dirty="0"/>
          </a:p>
          <a:p>
            <a:pPr algn="ctr"/>
            <a:r>
              <a:rPr lang="en-US" sz="3600" dirty="0">
                <a:latin typeface="Open Sans"/>
                <a:ea typeface="Open Sans"/>
                <a:cs typeface="Open Sans"/>
              </a:rPr>
              <a:t>Sidharth Kumar (sidharth@uic.edu)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0BD6F03-70BD-E039-CB02-0184BCEF43A9}"/>
              </a:ext>
            </a:extLst>
          </p:cNvPr>
          <p:cNvSpPr txBox="1"/>
          <p:nvPr/>
        </p:nvSpPr>
        <p:spPr>
          <a:xfrm>
            <a:off x="7451462" y="4782487"/>
            <a:ext cx="656766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ea typeface="+mn-lt"/>
                <a:cs typeface="+mn-lt"/>
              </a:rPr>
              <a:t>MNMGDatalog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dirty="0">
                <a:ea typeface="+mn-lt"/>
                <a:cs typeface="+mn-lt"/>
              </a:rPr>
              <a:t>uses radix-hash partitioning and non-uniform all-to-all communication with GPU-aware hash tables for efficient tuple materialization </a:t>
            </a:r>
            <a:endParaRPr 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882F9F-ACEB-89EA-1C92-8137951F5D10}"/>
              </a:ext>
            </a:extLst>
          </p:cNvPr>
          <p:cNvSpPr txBox="1"/>
          <p:nvPr/>
        </p:nvSpPr>
        <p:spPr>
          <a:xfrm>
            <a:off x="7451462" y="3857576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 err="1">
                <a:latin typeface="Bree Serif"/>
              </a:rPr>
              <a:t>MNMGDatalog</a:t>
            </a:r>
            <a:r>
              <a:rPr lang="en-US" sz="3200" dirty="0">
                <a:latin typeface="Bree Serif"/>
              </a:rPr>
              <a:t> Implementation</a:t>
            </a:r>
            <a:endParaRPr lang="en-US" sz="3200" dirty="0">
              <a:latin typeface="Bree Serif" panose="02000503040000020004" pitchFamily="2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F68C76-1403-2FFA-CE7D-7A99F9D59C80}"/>
              </a:ext>
            </a:extLst>
          </p:cNvPr>
          <p:cNvSpPr txBox="1"/>
          <p:nvPr/>
        </p:nvSpPr>
        <p:spPr>
          <a:xfrm>
            <a:off x="14734116" y="3857576"/>
            <a:ext cx="6599582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/>
              </a:rPr>
              <a:t>Performance Experiments</a:t>
            </a:r>
            <a:endParaRPr lang="en-US" sz="3200" dirty="0">
              <a:latin typeface="Bree Serif" panose="02000503040000020004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54B6CC-370C-CAF5-C733-208618EA726A}"/>
              </a:ext>
            </a:extLst>
          </p:cNvPr>
          <p:cNvSpPr txBox="1"/>
          <p:nvPr/>
        </p:nvSpPr>
        <p:spPr>
          <a:xfrm>
            <a:off x="347704" y="21459176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 panose="02000503040000020004" pitchFamily="2" charset="0"/>
              </a:rPr>
              <a:t>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81ED97-FE8F-4C4C-4480-598DA6D64752}"/>
              </a:ext>
            </a:extLst>
          </p:cNvPr>
          <p:cNvSpPr txBox="1"/>
          <p:nvPr/>
        </p:nvSpPr>
        <p:spPr>
          <a:xfrm>
            <a:off x="347704" y="3857576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/>
              </a:rPr>
              <a:t>Introduction</a:t>
            </a:r>
            <a:endParaRPr lang="en-US" sz="3200" dirty="0">
              <a:latin typeface="Bree Serif" panose="02000503040000020004" pitchFamily="2" charset="0"/>
            </a:endParaRPr>
          </a:p>
        </p:txBody>
      </p:sp>
      <p:sp>
        <p:nvSpPr>
          <p:cNvPr id="940" name="TextBox 939">
            <a:extLst>
              <a:ext uri="{FF2B5EF4-FFF2-40B4-BE49-F238E27FC236}">
                <a16:creationId xmlns:a16="http://schemas.microsoft.com/office/drawing/2014/main" id="{D6C3D8D6-72C0-589E-BE1A-91E09E04F4F8}"/>
              </a:ext>
            </a:extLst>
          </p:cNvPr>
          <p:cNvSpPr txBox="1"/>
          <p:nvPr/>
        </p:nvSpPr>
        <p:spPr>
          <a:xfrm>
            <a:off x="347704" y="4782486"/>
            <a:ext cx="6567669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a typeface="Open Sans"/>
                <a:cs typeface="Open Sans"/>
              </a:rPr>
              <a:t>Declarative programming </a:t>
            </a:r>
            <a:r>
              <a:rPr lang="en-US" sz="2000" dirty="0">
                <a:ea typeface="Open Sans"/>
                <a:cs typeface="Open Sans"/>
              </a:rPr>
              <a:t>focuses on “WHAT” not on “HOW”</a:t>
            </a:r>
          </a:p>
        </p:txBody>
      </p:sp>
      <p:sp>
        <p:nvSpPr>
          <p:cNvPr id="941" name="TextBox 940">
            <a:extLst>
              <a:ext uri="{FF2B5EF4-FFF2-40B4-BE49-F238E27FC236}">
                <a16:creationId xmlns:a16="http://schemas.microsoft.com/office/drawing/2014/main" id="{9952D357-6C2B-02C6-5100-0F0A74648A30}"/>
              </a:ext>
            </a:extLst>
          </p:cNvPr>
          <p:cNvSpPr txBox="1"/>
          <p:nvPr/>
        </p:nvSpPr>
        <p:spPr>
          <a:xfrm>
            <a:off x="320469" y="22394006"/>
            <a:ext cx="654466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+mn-lt"/>
                <a:cs typeface="+mn-lt"/>
              </a:rPr>
              <a:t>Iterative relational algebra</a:t>
            </a:r>
            <a:r>
              <a:rPr lang="en-US" sz="2400" dirty="0">
                <a:ea typeface="+mn-lt"/>
                <a:cs typeface="+mn-lt"/>
              </a:rPr>
              <a:t> on MNMG systems is challenging due to high communication overhead, synchronization cost, and repeated materialization.</a:t>
            </a:r>
            <a:endParaRPr lang="en-US" sz="6214" dirty="0">
              <a:ea typeface="+mn-lt"/>
              <a:cs typeface="+mn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E5C56A-70BD-C68F-39B5-56E1BFD1A41A}"/>
              </a:ext>
            </a:extLst>
          </p:cNvPr>
          <p:cNvSpPr txBox="1"/>
          <p:nvPr/>
        </p:nvSpPr>
        <p:spPr>
          <a:xfrm>
            <a:off x="7451462" y="29907990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/>
              </a:rPr>
              <a:t>Engine evolution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CFE3B7-B27F-601A-02B9-77BAF1AF5B52}"/>
              </a:ext>
            </a:extLst>
          </p:cNvPr>
          <p:cNvGraphicFramePr>
            <a:graphicFrameLocks noGrp="1"/>
          </p:cNvGraphicFramePr>
          <p:nvPr/>
        </p:nvGraphicFramePr>
        <p:xfrm>
          <a:off x="326530" y="5596537"/>
          <a:ext cx="6522148" cy="191800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015363">
                  <a:extLst>
                    <a:ext uri="{9D8B030D-6E8A-4147-A177-3AD203B41FA5}">
                      <a16:colId xmlns:a16="http://schemas.microsoft.com/office/drawing/2014/main" val="3584266038"/>
                    </a:ext>
                  </a:extLst>
                </a:gridCol>
                <a:gridCol w="1362827">
                  <a:extLst>
                    <a:ext uri="{9D8B030D-6E8A-4147-A177-3AD203B41FA5}">
                      <a16:colId xmlns:a16="http://schemas.microsoft.com/office/drawing/2014/main" val="734442874"/>
                    </a:ext>
                  </a:extLst>
                </a:gridCol>
                <a:gridCol w="2476013">
                  <a:extLst>
                    <a:ext uri="{9D8B030D-6E8A-4147-A177-3AD203B41FA5}">
                      <a16:colId xmlns:a16="http://schemas.microsoft.com/office/drawing/2014/main" val="3728792630"/>
                    </a:ext>
                  </a:extLst>
                </a:gridCol>
                <a:gridCol w="1667945">
                  <a:extLst>
                    <a:ext uri="{9D8B030D-6E8A-4147-A177-3AD203B41FA5}">
                      <a16:colId xmlns:a16="http://schemas.microsoft.com/office/drawing/2014/main" val="3249319582"/>
                    </a:ext>
                  </a:extLst>
                </a:gridCol>
              </a:tblGrid>
              <a:tr h="479501">
                <a:tc>
                  <a:txBody>
                    <a:bodyPr/>
                    <a:lstStyle/>
                    <a:p>
                      <a:r>
                        <a:rPr lang="en-US" sz="1800" err="1"/>
                        <a:t>UserID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UserName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UserEmail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Country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737994"/>
                  </a:ext>
                </a:extLst>
              </a:tr>
              <a:tr h="479501">
                <a:tc>
                  <a:txBody>
                    <a:bodyPr/>
                    <a:lstStyle/>
                    <a:p>
                      <a:r>
                        <a:rPr lang="en-US" sz="1800" dirty="0"/>
                        <a:t>101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Alice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alice@example.com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USA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603232"/>
                  </a:ext>
                </a:extLst>
              </a:tr>
              <a:tr h="479501">
                <a:tc>
                  <a:txBody>
                    <a:bodyPr/>
                    <a:lstStyle/>
                    <a:p>
                      <a:r>
                        <a:rPr lang="en-US" sz="1800" dirty="0"/>
                        <a:t>102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bob@example.com</a:t>
                      </a:r>
                      <a:endParaRPr lang="en-US" sz="1800" dirty="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USA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529967"/>
                  </a:ext>
                </a:extLst>
              </a:tr>
              <a:tr h="479501">
                <a:tc>
                  <a:txBody>
                    <a:bodyPr/>
                    <a:lstStyle/>
                    <a:p>
                      <a:r>
                        <a:rPr lang="en-US" sz="1800" dirty="0"/>
                        <a:t>103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Eve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eve@example.com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Canada</a:t>
                      </a:r>
                      <a:endParaRPr lang="en-US" sz="1800">
                        <a:latin typeface="+mn-lt"/>
                        <a:ea typeface="Open Sans"/>
                        <a:cs typeface="Open San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553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460A7EB-F7E8-BAB5-0994-0852C3379494}"/>
              </a:ext>
            </a:extLst>
          </p:cNvPr>
          <p:cNvSpPr txBox="1"/>
          <p:nvPr/>
        </p:nvSpPr>
        <p:spPr>
          <a:xfrm>
            <a:off x="326531" y="5157877"/>
            <a:ext cx="65403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Open Sans" panose="020B0606030504020204" pitchFamily="34" charset="0"/>
                <a:cs typeface="Open Sans" panose="020B0606030504020204" pitchFamily="34" charset="0"/>
              </a:rPr>
              <a:t>Users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F97F52E2-380C-BEC4-6F0A-AFE53B8A5178}"/>
              </a:ext>
            </a:extLst>
          </p:cNvPr>
          <p:cNvSpPr/>
          <p:nvPr/>
        </p:nvSpPr>
        <p:spPr>
          <a:xfrm>
            <a:off x="3350268" y="7660416"/>
            <a:ext cx="224589" cy="3322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7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6E50EE-5F9B-52E2-6586-941159E8E40D}"/>
              </a:ext>
            </a:extLst>
          </p:cNvPr>
          <p:cNvSpPr/>
          <p:nvPr/>
        </p:nvSpPr>
        <p:spPr>
          <a:xfrm>
            <a:off x="347703" y="8045996"/>
            <a:ext cx="6563436" cy="461665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SELECT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UserID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FROM</a:t>
            </a:r>
            <a:r>
              <a:rPr lang="en-US" sz="1600" dirty="0">
                <a:solidFill>
                  <a:schemeClr val="tx1"/>
                </a:solidFill>
              </a:rPr>
              <a:t> Users </a:t>
            </a:r>
            <a:r>
              <a:rPr lang="en-US" sz="1600" b="1" dirty="0">
                <a:solidFill>
                  <a:schemeClr val="tx1"/>
                </a:solidFill>
              </a:rPr>
              <a:t>WHERE</a:t>
            </a:r>
            <a:r>
              <a:rPr lang="en-US" sz="1600" dirty="0">
                <a:solidFill>
                  <a:schemeClr val="tx1"/>
                </a:solidFill>
              </a:rPr>
              <a:t> Country=‘USA’;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4F4A0A-5E3A-6C90-1D7E-39191DCA9DD6}"/>
              </a:ext>
            </a:extLst>
          </p:cNvPr>
          <p:cNvSpPr/>
          <p:nvPr/>
        </p:nvSpPr>
        <p:spPr>
          <a:xfrm>
            <a:off x="298048" y="8027845"/>
            <a:ext cx="1068507" cy="458063"/>
          </a:xfrm>
          <a:prstGeom prst="ellipse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WHAT</a:t>
            </a:r>
          </a:p>
        </p:txBody>
      </p:sp>
      <p:sp>
        <p:nvSpPr>
          <p:cNvPr id="9" name="Flowchart: Summing Junction 8">
            <a:extLst>
              <a:ext uri="{FF2B5EF4-FFF2-40B4-BE49-F238E27FC236}">
                <a16:creationId xmlns:a16="http://schemas.microsoft.com/office/drawing/2014/main" id="{942C4EC7-E2FA-A527-E9B5-DEB5B67080E5}"/>
              </a:ext>
            </a:extLst>
          </p:cNvPr>
          <p:cNvSpPr/>
          <p:nvPr/>
        </p:nvSpPr>
        <p:spPr>
          <a:xfrm>
            <a:off x="5851681" y="8027842"/>
            <a:ext cx="1069888" cy="455188"/>
          </a:xfrm>
          <a:prstGeom prst="flowChartSummingJunction">
            <a:avLst/>
          </a:prstGeom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 b="1" dirty="0">
                <a:solidFill>
                  <a:schemeClr val="tx1"/>
                </a:solidFill>
              </a:rPr>
              <a:t>HOW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C84A1AF3-E964-7113-6EA1-C031FB1D57A7}"/>
              </a:ext>
            </a:extLst>
          </p:cNvPr>
          <p:cNvSpPr/>
          <p:nvPr/>
        </p:nvSpPr>
        <p:spPr>
          <a:xfrm>
            <a:off x="3350268" y="8568491"/>
            <a:ext cx="224589" cy="3322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7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A85AF9-954B-00AC-1338-144C8F16234E}"/>
              </a:ext>
            </a:extLst>
          </p:cNvPr>
          <p:cNvSpPr/>
          <p:nvPr/>
        </p:nvSpPr>
        <p:spPr>
          <a:xfrm>
            <a:off x="339686" y="9000503"/>
            <a:ext cx="6540433" cy="461665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>
                <a:solidFill>
                  <a:schemeClr val="tx1"/>
                </a:solidFill>
              </a:rPr>
              <a:t>Advanced approach: Logic programming (Datalog)</a:t>
            </a: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8C2B1EBD-0FE4-C652-9204-39654CA2E5D9}"/>
              </a:ext>
            </a:extLst>
          </p:cNvPr>
          <p:cNvSpPr/>
          <p:nvPr/>
        </p:nvSpPr>
        <p:spPr>
          <a:xfrm>
            <a:off x="3356013" y="9557015"/>
            <a:ext cx="224589" cy="3322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700"/>
          </a:p>
        </p:txBody>
      </p:sp>
      <p:sp>
        <p:nvSpPr>
          <p:cNvPr id="24" name="Rectangle: Diagonal Corners Rounded 23">
            <a:extLst>
              <a:ext uri="{FF2B5EF4-FFF2-40B4-BE49-F238E27FC236}">
                <a16:creationId xmlns:a16="http://schemas.microsoft.com/office/drawing/2014/main" id="{E5D3C269-57BB-E686-31E8-E46816EA67D0}"/>
              </a:ext>
            </a:extLst>
          </p:cNvPr>
          <p:cNvSpPr/>
          <p:nvPr/>
        </p:nvSpPr>
        <p:spPr>
          <a:xfrm>
            <a:off x="339685" y="9955008"/>
            <a:ext cx="6540434" cy="453391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Datalog rules to compute Transitive Closure (TC) of a relation</a:t>
            </a:r>
            <a:endParaRPr lang="en-US" sz="200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863A7B1-D5B7-05AA-1FAC-37F39F8C3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77" y="12390041"/>
            <a:ext cx="6556546" cy="816764"/>
          </a:xfrm>
          <a:prstGeom prst="rect">
            <a:avLst/>
          </a:prstGeom>
        </p:spPr>
      </p:pic>
      <p:sp>
        <p:nvSpPr>
          <p:cNvPr id="27" name="Arrow: Down 26">
            <a:extLst>
              <a:ext uri="{FF2B5EF4-FFF2-40B4-BE49-F238E27FC236}">
                <a16:creationId xmlns:a16="http://schemas.microsoft.com/office/drawing/2014/main" id="{1609104A-B703-0A71-DB0C-7C241DDAEDC7}"/>
              </a:ext>
            </a:extLst>
          </p:cNvPr>
          <p:cNvSpPr/>
          <p:nvPr/>
        </p:nvSpPr>
        <p:spPr>
          <a:xfrm>
            <a:off x="3350268" y="11443543"/>
            <a:ext cx="224589" cy="332283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870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7074C798-3B9D-05F4-F49F-933DBE0A73BA}"/>
              </a:ext>
            </a:extLst>
          </p:cNvPr>
          <p:cNvSpPr/>
          <p:nvPr/>
        </p:nvSpPr>
        <p:spPr>
          <a:xfrm>
            <a:off x="315566" y="29640765"/>
            <a:ext cx="6547791" cy="65767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 err="1">
                <a:ea typeface="Calibri"/>
                <a:cs typeface="Calibri"/>
              </a:rPr>
              <a:t>MNMGDatalog</a:t>
            </a:r>
            <a:r>
              <a:rPr lang="en-US" sz="2400" dirty="0">
                <a:ea typeface="Calibri"/>
                <a:cs typeface="Calibri"/>
              </a:rPr>
              <a:t> is the first MNMG </a:t>
            </a:r>
            <a:r>
              <a:rPr lang="en-US" sz="2400" dirty="0" err="1">
                <a:ea typeface="Calibri"/>
                <a:cs typeface="Calibri"/>
              </a:rPr>
              <a:t>Datalog</a:t>
            </a:r>
            <a:r>
              <a:rPr lang="en-US" sz="2400" dirty="0">
                <a:ea typeface="Calibri"/>
                <a:cs typeface="Calibri"/>
              </a:rPr>
              <a:t> engine </a:t>
            </a:r>
          </a:p>
        </p:txBody>
      </p:sp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F0DE602A-4CAD-D18F-C7FF-074313D4520A}"/>
              </a:ext>
            </a:extLst>
          </p:cNvPr>
          <p:cNvSpPr/>
          <p:nvPr/>
        </p:nvSpPr>
        <p:spPr>
          <a:xfrm>
            <a:off x="347703" y="11824835"/>
            <a:ext cx="6563437" cy="453391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Operationalized as a </a:t>
            </a:r>
            <a:r>
              <a:rPr lang="en-US" sz="2000" b="1" dirty="0"/>
              <a:t>fixed-point iteration </a:t>
            </a:r>
            <a:r>
              <a:rPr lang="en-US" sz="2000" dirty="0"/>
              <a:t>using </a:t>
            </a:r>
            <a:r>
              <a:rPr lang="en-US" sz="2000" i="1" dirty="0"/>
              <a:t>F</a:t>
            </a:r>
            <a:r>
              <a:rPr lang="en-US" sz="2000" i="1" baseline="-25000" dirty="0"/>
              <a:t>G</a:t>
            </a:r>
          </a:p>
        </p:txBody>
      </p:sp>
      <p:sp>
        <p:nvSpPr>
          <p:cNvPr id="39" name="Rectangle: Diagonal Corners Rounded 38">
            <a:extLst>
              <a:ext uri="{FF2B5EF4-FFF2-40B4-BE49-F238E27FC236}">
                <a16:creationId xmlns:a16="http://schemas.microsoft.com/office/drawing/2014/main" id="{38A5F089-97D2-976B-0CC3-A4FEDE2543D6}"/>
              </a:ext>
            </a:extLst>
          </p:cNvPr>
          <p:cNvSpPr/>
          <p:nvPr/>
        </p:nvSpPr>
        <p:spPr>
          <a:xfrm>
            <a:off x="339686" y="13382061"/>
            <a:ext cx="6543559" cy="458422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Datalog rules compiled down to </a:t>
            </a:r>
            <a:r>
              <a:rPr lang="en-US" sz="2000" b="1" dirty="0"/>
              <a:t>iterative relational algebra</a:t>
            </a:r>
            <a:r>
              <a:rPr lang="en-US" sz="2000" dirty="0"/>
              <a:t>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2DBC29F-10E9-6CAC-4F75-C4F90BF0E1B1}"/>
              </a:ext>
            </a:extLst>
          </p:cNvPr>
          <p:cNvSpPr txBox="1"/>
          <p:nvPr/>
        </p:nvSpPr>
        <p:spPr>
          <a:xfrm>
            <a:off x="333812" y="10541258"/>
            <a:ext cx="655340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onsolas"/>
              </a:rPr>
              <a:t>TC(x, y) :- Edge(x, y).</a:t>
            </a:r>
          </a:p>
          <a:p>
            <a:r>
              <a:rPr lang="en-US" sz="2400" dirty="0">
                <a:latin typeface="Consolas"/>
              </a:rPr>
              <a:t>TC(x, z) :- TC(x, y), Edge(y, z).</a:t>
            </a:r>
          </a:p>
        </p:txBody>
      </p:sp>
      <p:grpSp>
        <p:nvGrpSpPr>
          <p:cNvPr id="997" name="Group 996">
            <a:extLst>
              <a:ext uri="{FF2B5EF4-FFF2-40B4-BE49-F238E27FC236}">
                <a16:creationId xmlns:a16="http://schemas.microsoft.com/office/drawing/2014/main" id="{ABA01F6A-786D-B7B5-03A9-A2C497987048}"/>
              </a:ext>
            </a:extLst>
          </p:cNvPr>
          <p:cNvGrpSpPr/>
          <p:nvPr/>
        </p:nvGrpSpPr>
        <p:grpSpPr>
          <a:xfrm>
            <a:off x="3695325" y="28157489"/>
            <a:ext cx="3185565" cy="478917"/>
            <a:chOff x="5624073" y="25892533"/>
            <a:chExt cx="4832528" cy="461665"/>
          </a:xfrm>
        </p:grpSpPr>
        <p:sp>
          <p:nvSpPr>
            <p:cNvPr id="995" name="Rectangle: Rounded Corners 994">
              <a:extLst>
                <a:ext uri="{FF2B5EF4-FFF2-40B4-BE49-F238E27FC236}">
                  <a16:creationId xmlns:a16="http://schemas.microsoft.com/office/drawing/2014/main" id="{0D184BCE-0A88-7C98-C4CB-22F909DBB7D6}"/>
                </a:ext>
              </a:extLst>
            </p:cNvPr>
            <p:cNvSpPr/>
            <p:nvPr/>
          </p:nvSpPr>
          <p:spPr>
            <a:xfrm>
              <a:off x="5624073" y="25892533"/>
              <a:ext cx="4832528" cy="461665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Data representation</a:t>
              </a:r>
              <a:endParaRPr lang="en-US" sz="1800">
                <a:solidFill>
                  <a:schemeClr val="tx1"/>
                </a:solidFill>
              </a:endParaRPr>
            </a:p>
          </p:txBody>
        </p:sp>
        <p:sp>
          <p:nvSpPr>
            <p:cNvPr id="996" name="Oval 995">
              <a:extLst>
                <a:ext uri="{FF2B5EF4-FFF2-40B4-BE49-F238E27FC236}">
                  <a16:creationId xmlns:a16="http://schemas.microsoft.com/office/drawing/2014/main" id="{636D3B9B-B93A-68B2-9273-72463C83162E}"/>
                </a:ext>
              </a:extLst>
            </p:cNvPr>
            <p:cNvSpPr/>
            <p:nvPr/>
          </p:nvSpPr>
          <p:spPr>
            <a:xfrm>
              <a:off x="5672448" y="25921561"/>
              <a:ext cx="516415" cy="40394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2</a:t>
              </a:r>
            </a:p>
          </p:txBody>
        </p:sp>
      </p:grpSp>
      <p:grpSp>
        <p:nvGrpSpPr>
          <p:cNvPr id="998" name="Group 997">
            <a:extLst>
              <a:ext uri="{FF2B5EF4-FFF2-40B4-BE49-F238E27FC236}">
                <a16:creationId xmlns:a16="http://schemas.microsoft.com/office/drawing/2014/main" id="{8985AC83-EADD-8851-8EB5-2DBD1C4D4DB4}"/>
              </a:ext>
            </a:extLst>
          </p:cNvPr>
          <p:cNvGrpSpPr/>
          <p:nvPr/>
        </p:nvGrpSpPr>
        <p:grpSpPr>
          <a:xfrm>
            <a:off x="320470" y="28737942"/>
            <a:ext cx="3193705" cy="461665"/>
            <a:chOff x="5624073" y="25892533"/>
            <a:chExt cx="4832528" cy="461665"/>
          </a:xfrm>
        </p:grpSpPr>
        <p:sp>
          <p:nvSpPr>
            <p:cNvPr id="999" name="Rectangle: Rounded Corners 998">
              <a:extLst>
                <a:ext uri="{FF2B5EF4-FFF2-40B4-BE49-F238E27FC236}">
                  <a16:creationId xmlns:a16="http://schemas.microsoft.com/office/drawing/2014/main" id="{5EE049B3-051B-DB87-8856-64B0ACD1F673}"/>
                </a:ext>
              </a:extLst>
            </p:cNvPr>
            <p:cNvSpPr/>
            <p:nvPr/>
          </p:nvSpPr>
          <p:spPr>
            <a:xfrm>
              <a:off x="5624073" y="25892533"/>
              <a:ext cx="4832528" cy="461665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Efficient communication</a:t>
              </a:r>
            </a:p>
          </p:txBody>
        </p:sp>
        <p:sp>
          <p:nvSpPr>
            <p:cNvPr id="1000" name="Oval 999">
              <a:extLst>
                <a:ext uri="{FF2B5EF4-FFF2-40B4-BE49-F238E27FC236}">
                  <a16:creationId xmlns:a16="http://schemas.microsoft.com/office/drawing/2014/main" id="{F2C7FFC2-B1C4-5F09-8879-8B0027882954}"/>
                </a:ext>
              </a:extLst>
            </p:cNvPr>
            <p:cNvSpPr/>
            <p:nvPr/>
          </p:nvSpPr>
          <p:spPr>
            <a:xfrm>
              <a:off x="5672448" y="25921561"/>
              <a:ext cx="595112" cy="40394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3</a:t>
              </a:r>
            </a:p>
          </p:txBody>
        </p:sp>
      </p:grpSp>
      <p:grpSp>
        <p:nvGrpSpPr>
          <p:cNvPr id="1001" name="Group 1000">
            <a:extLst>
              <a:ext uri="{FF2B5EF4-FFF2-40B4-BE49-F238E27FC236}">
                <a16:creationId xmlns:a16="http://schemas.microsoft.com/office/drawing/2014/main" id="{88F76C4E-0FB8-1C5B-30D8-893822D66F8B}"/>
              </a:ext>
            </a:extLst>
          </p:cNvPr>
          <p:cNvGrpSpPr/>
          <p:nvPr/>
        </p:nvGrpSpPr>
        <p:grpSpPr>
          <a:xfrm>
            <a:off x="3695325" y="28737294"/>
            <a:ext cx="3185565" cy="461665"/>
            <a:chOff x="5624072" y="25892533"/>
            <a:chExt cx="5144638" cy="461665"/>
          </a:xfrm>
        </p:grpSpPr>
        <p:sp>
          <p:nvSpPr>
            <p:cNvPr id="1002" name="Rectangle: Rounded Corners 1001">
              <a:extLst>
                <a:ext uri="{FF2B5EF4-FFF2-40B4-BE49-F238E27FC236}">
                  <a16:creationId xmlns:a16="http://schemas.microsoft.com/office/drawing/2014/main" id="{86B758BD-024C-A4F2-2020-2C5A17AD1295}"/>
                </a:ext>
              </a:extLst>
            </p:cNvPr>
            <p:cNvSpPr/>
            <p:nvPr/>
          </p:nvSpPr>
          <p:spPr>
            <a:xfrm>
              <a:off x="5624072" y="25892533"/>
              <a:ext cx="5144638" cy="461665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Tuple materialization</a:t>
              </a:r>
            </a:p>
          </p:txBody>
        </p:sp>
        <p:sp>
          <p:nvSpPr>
            <p:cNvPr id="1003" name="Oval 1002">
              <a:extLst>
                <a:ext uri="{FF2B5EF4-FFF2-40B4-BE49-F238E27FC236}">
                  <a16:creationId xmlns:a16="http://schemas.microsoft.com/office/drawing/2014/main" id="{11B09290-CBA6-BCD1-3145-091A4E5CC210}"/>
                </a:ext>
              </a:extLst>
            </p:cNvPr>
            <p:cNvSpPr/>
            <p:nvPr/>
          </p:nvSpPr>
          <p:spPr>
            <a:xfrm>
              <a:off x="5672447" y="25921561"/>
              <a:ext cx="552892" cy="40394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4</a:t>
              </a:r>
            </a:p>
          </p:txBody>
        </p:sp>
      </p:grpSp>
      <p:grpSp>
        <p:nvGrpSpPr>
          <p:cNvPr id="1004" name="Group 1003">
            <a:extLst>
              <a:ext uri="{FF2B5EF4-FFF2-40B4-BE49-F238E27FC236}">
                <a16:creationId xmlns:a16="http://schemas.microsoft.com/office/drawing/2014/main" id="{5CCC2C52-BB65-0330-B05F-55BF3D8A2EDA}"/>
              </a:ext>
            </a:extLst>
          </p:cNvPr>
          <p:cNvGrpSpPr/>
          <p:nvPr/>
        </p:nvGrpSpPr>
        <p:grpSpPr>
          <a:xfrm>
            <a:off x="320470" y="28157489"/>
            <a:ext cx="3193705" cy="478917"/>
            <a:chOff x="5624073" y="25892533"/>
            <a:chExt cx="5000003" cy="461665"/>
          </a:xfrm>
        </p:grpSpPr>
        <p:sp>
          <p:nvSpPr>
            <p:cNvPr id="1005" name="Rectangle: Rounded Corners 1004">
              <a:extLst>
                <a:ext uri="{FF2B5EF4-FFF2-40B4-BE49-F238E27FC236}">
                  <a16:creationId xmlns:a16="http://schemas.microsoft.com/office/drawing/2014/main" id="{19FDE0C1-A3D7-2CF8-5A10-F05157F1966B}"/>
                </a:ext>
              </a:extLst>
            </p:cNvPr>
            <p:cNvSpPr/>
            <p:nvPr/>
          </p:nvSpPr>
          <p:spPr>
            <a:xfrm>
              <a:off x="5624073" y="25892533"/>
              <a:ext cx="5000003" cy="461665"/>
            </a:xfrm>
            <a:prstGeom prst="roundRect">
              <a:avLst/>
            </a:prstGeom>
            <a:noFill/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>
                  <a:solidFill>
                    <a:schemeClr val="tx1"/>
                  </a:solidFill>
                </a:rPr>
                <a:t>Workload partitioning</a:t>
              </a:r>
            </a:p>
          </p:txBody>
        </p:sp>
        <p:sp>
          <p:nvSpPr>
            <p:cNvPr id="1006" name="Oval 1005">
              <a:extLst>
                <a:ext uri="{FF2B5EF4-FFF2-40B4-BE49-F238E27FC236}">
                  <a16:creationId xmlns:a16="http://schemas.microsoft.com/office/drawing/2014/main" id="{BBFC49B6-B4A0-8BAA-351C-D51189DA98DD}"/>
                </a:ext>
              </a:extLst>
            </p:cNvPr>
            <p:cNvSpPr/>
            <p:nvPr/>
          </p:nvSpPr>
          <p:spPr>
            <a:xfrm>
              <a:off x="5672448" y="25921561"/>
              <a:ext cx="617412" cy="403946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800" dirty="0"/>
                <a:t>1</a:t>
              </a: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C42FCA3F-9287-8038-EE93-A028525C960C}"/>
              </a:ext>
            </a:extLst>
          </p:cNvPr>
          <p:cNvSpPr txBox="1"/>
          <p:nvPr/>
        </p:nvSpPr>
        <p:spPr>
          <a:xfrm>
            <a:off x="345395" y="14144423"/>
            <a:ext cx="6565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i="1" dirty="0">
                <a:ea typeface="Open Sans" panose="020B0606030504020204" pitchFamily="34" charset="0"/>
                <a:cs typeface="Open Sans" panose="020B0606030504020204" pitchFamily="34" charset="0"/>
              </a:rPr>
              <a:t>Iterations in Transitive Closure (TC) Computation</a:t>
            </a:r>
          </a:p>
        </p:txBody>
      </p:sp>
      <p:sp>
        <p:nvSpPr>
          <p:cNvPr id="1187" name="TextBox 1186">
            <a:extLst>
              <a:ext uri="{FF2B5EF4-FFF2-40B4-BE49-F238E27FC236}">
                <a16:creationId xmlns:a16="http://schemas.microsoft.com/office/drawing/2014/main" id="{5B367860-2A08-B517-DB25-7BE081C6AE17}"/>
              </a:ext>
            </a:extLst>
          </p:cNvPr>
          <p:cNvSpPr txBox="1"/>
          <p:nvPr/>
        </p:nvSpPr>
        <p:spPr>
          <a:xfrm>
            <a:off x="7387852" y="5758871"/>
            <a:ext cx="65676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Materialization in fixed point iteration</a:t>
            </a:r>
            <a:endParaRPr lang="en-US" sz="6214" dirty="0"/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774F86AA-A3D3-022A-26EB-DD051562A3DE}"/>
              </a:ext>
            </a:extLst>
          </p:cNvPr>
          <p:cNvSpPr txBox="1"/>
          <p:nvPr/>
        </p:nvSpPr>
        <p:spPr>
          <a:xfrm>
            <a:off x="7476747" y="9922967"/>
            <a:ext cx="654466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Radix-hash-based data partitioning</a:t>
            </a:r>
            <a:endParaRPr lang="en-US" sz="6214" dirty="0"/>
          </a:p>
        </p:txBody>
      </p:sp>
      <p:sp>
        <p:nvSpPr>
          <p:cNvPr id="1304" name="TextBox 1303">
            <a:extLst>
              <a:ext uri="{FF2B5EF4-FFF2-40B4-BE49-F238E27FC236}">
                <a16:creationId xmlns:a16="http://schemas.microsoft.com/office/drawing/2014/main" id="{9E086BDF-FE39-9BC2-7E5C-5A9902330F78}"/>
              </a:ext>
            </a:extLst>
          </p:cNvPr>
          <p:cNvSpPr txBox="1"/>
          <p:nvPr/>
        </p:nvSpPr>
        <p:spPr>
          <a:xfrm>
            <a:off x="14734118" y="4782487"/>
            <a:ext cx="656766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ea typeface="+mn-lt"/>
                <a:cs typeface="+mn-lt"/>
              </a:rPr>
              <a:t>We evaluate </a:t>
            </a:r>
            <a:r>
              <a:rPr lang="en-US" sz="2000" b="1" dirty="0" err="1">
                <a:ea typeface="+mn-lt"/>
                <a:cs typeface="+mn-lt"/>
              </a:rPr>
              <a:t>MNMGDatalog</a:t>
            </a:r>
            <a:r>
              <a:rPr lang="en-US" sz="2000" dirty="0">
                <a:ea typeface="+mn-lt"/>
                <a:cs typeface="+mn-lt"/>
              </a:rPr>
              <a:t> against state-of-the-art single-GPU, shared-memory, and distributed multi-node Datalog engines up to 32 NVIDIA A100 GPUs</a:t>
            </a:r>
          </a:p>
        </p:txBody>
      </p:sp>
      <p:sp>
        <p:nvSpPr>
          <p:cNvPr id="1400" name="Freeform: Shape 1399">
            <a:extLst>
              <a:ext uri="{FF2B5EF4-FFF2-40B4-BE49-F238E27FC236}">
                <a16:creationId xmlns:a16="http://schemas.microsoft.com/office/drawing/2014/main" id="{2D49428A-376B-3366-B3EA-9F99840C5504}"/>
              </a:ext>
            </a:extLst>
          </p:cNvPr>
          <p:cNvSpPr/>
          <p:nvPr/>
        </p:nvSpPr>
        <p:spPr>
          <a:xfrm>
            <a:off x="14821202" y="6356535"/>
            <a:ext cx="6492240" cy="408072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dirty="0"/>
              <a:t>Polaris</a:t>
            </a:r>
            <a:r>
              <a:rPr lang="en-US" sz="1800" b="1" i="0" kern="1200" dirty="0"/>
              <a:t> </a:t>
            </a:r>
            <a:r>
              <a:rPr lang="en-US" sz="1800" b="0" i="0" kern="1200" dirty="0"/>
              <a:t>supercomputer from </a:t>
            </a:r>
            <a:r>
              <a:rPr lang="en-US" sz="1800" b="1" i="0" kern="1200" dirty="0"/>
              <a:t>Argonne National Lab</a:t>
            </a:r>
            <a:endParaRPr lang="en-US" sz="1800" b="1" kern="1200" dirty="0"/>
          </a:p>
        </p:txBody>
      </p:sp>
      <p:sp>
        <p:nvSpPr>
          <p:cNvPr id="1401" name="Freeform: Shape 1400">
            <a:extLst>
              <a:ext uri="{FF2B5EF4-FFF2-40B4-BE49-F238E27FC236}">
                <a16:creationId xmlns:a16="http://schemas.microsoft.com/office/drawing/2014/main" id="{6811B03D-B372-5D6C-87B2-0B2B48C6191B}"/>
              </a:ext>
            </a:extLst>
          </p:cNvPr>
          <p:cNvSpPr/>
          <p:nvPr/>
        </p:nvSpPr>
        <p:spPr>
          <a:xfrm>
            <a:off x="14821202" y="6856720"/>
            <a:ext cx="6492240" cy="408072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i="0" kern="1200" dirty="0"/>
              <a:t>HW</a:t>
            </a:r>
            <a:r>
              <a:rPr lang="en-US" sz="1800" b="0" i="0" kern="1200" dirty="0"/>
              <a:t>: AMD EPYC </a:t>
            </a:r>
            <a:r>
              <a:rPr lang="en-US" sz="1800" dirty="0"/>
              <a:t>7543P CPU, NVIDIA A100 GPUs with </a:t>
            </a:r>
            <a:r>
              <a:rPr lang="en-US" sz="1800" dirty="0" err="1"/>
              <a:t>NVLink</a:t>
            </a:r>
            <a:endParaRPr lang="en-US" sz="1800" kern="1200" dirty="0"/>
          </a:p>
        </p:txBody>
      </p:sp>
      <p:sp>
        <p:nvSpPr>
          <p:cNvPr id="1410" name="TextBox 1409">
            <a:extLst>
              <a:ext uri="{FF2B5EF4-FFF2-40B4-BE49-F238E27FC236}">
                <a16:creationId xmlns:a16="http://schemas.microsoft.com/office/drawing/2014/main" id="{0B256DEE-260E-A35F-7255-6E7E37585CFD}"/>
              </a:ext>
            </a:extLst>
          </p:cNvPr>
          <p:cNvSpPr txBox="1"/>
          <p:nvPr/>
        </p:nvSpPr>
        <p:spPr>
          <a:xfrm>
            <a:off x="14734116" y="5758871"/>
            <a:ext cx="65676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Experiment platform, application, and datasets</a:t>
            </a:r>
          </a:p>
        </p:txBody>
      </p:sp>
      <p:sp>
        <p:nvSpPr>
          <p:cNvPr id="1435" name="TextBox 1434">
            <a:extLst>
              <a:ext uri="{FF2B5EF4-FFF2-40B4-BE49-F238E27FC236}">
                <a16:creationId xmlns:a16="http://schemas.microsoft.com/office/drawing/2014/main" id="{868A5517-8C60-08BA-A878-D2953C50F024}"/>
              </a:ext>
            </a:extLst>
          </p:cNvPr>
          <p:cNvSpPr txBox="1"/>
          <p:nvPr/>
        </p:nvSpPr>
        <p:spPr>
          <a:xfrm>
            <a:off x="8383416" y="14465242"/>
            <a:ext cx="121193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Open Sans"/>
                <a:cs typeface="Open Sans"/>
              </a:rPr>
              <a:t>Strong scaling for iterative join (total 10M tuples)</a:t>
            </a:r>
            <a:endParaRPr lang="en-US" sz="2400" b="1" dirty="0"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39" name="TextBox 1438">
            <a:extLst>
              <a:ext uri="{FF2B5EF4-FFF2-40B4-BE49-F238E27FC236}">
                <a16:creationId xmlns:a16="http://schemas.microsoft.com/office/drawing/2014/main" id="{5E276A46-7CCC-778D-42C1-6F20D6002870}"/>
              </a:ext>
            </a:extLst>
          </p:cNvPr>
          <p:cNvSpPr txBox="1"/>
          <p:nvPr/>
        </p:nvSpPr>
        <p:spPr>
          <a:xfrm>
            <a:off x="14734116" y="8375268"/>
            <a:ext cx="656766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Single-GPU evaluation for Transitive Closure (TC)</a:t>
            </a:r>
          </a:p>
        </p:txBody>
      </p:sp>
      <p:sp>
        <p:nvSpPr>
          <p:cNvPr id="1450" name="TextBox 1449">
            <a:extLst>
              <a:ext uri="{FF2B5EF4-FFF2-40B4-BE49-F238E27FC236}">
                <a16:creationId xmlns:a16="http://schemas.microsoft.com/office/drawing/2014/main" id="{521D4E89-C4FC-4700-B738-D9F098FD1C06}"/>
              </a:ext>
            </a:extLst>
          </p:cNvPr>
          <p:cNvSpPr txBox="1"/>
          <p:nvPr/>
        </p:nvSpPr>
        <p:spPr>
          <a:xfrm>
            <a:off x="8397372" y="21954955"/>
            <a:ext cx="121422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Open Sans"/>
                <a:cs typeface="Open Sans"/>
              </a:rPr>
              <a:t>Multi-node evaluation for TC, SG, and CC</a:t>
            </a:r>
          </a:p>
        </p:txBody>
      </p:sp>
      <p:sp>
        <p:nvSpPr>
          <p:cNvPr id="980" name="Rectangle 979">
            <a:extLst>
              <a:ext uri="{FF2B5EF4-FFF2-40B4-BE49-F238E27FC236}">
                <a16:creationId xmlns:a16="http://schemas.microsoft.com/office/drawing/2014/main" id="{8705FBDD-D4FD-890F-774C-39183AD9E0FD}"/>
              </a:ext>
            </a:extLst>
          </p:cNvPr>
          <p:cNvSpPr/>
          <p:nvPr/>
        </p:nvSpPr>
        <p:spPr>
          <a:xfrm>
            <a:off x="399391" y="25103651"/>
            <a:ext cx="1243086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Multi-threaded</a:t>
            </a:r>
            <a:endParaRPr lang="en-US" sz="1800" dirty="0">
              <a:cs typeface="Arial"/>
            </a:endParaRPr>
          </a:p>
        </p:txBody>
      </p:sp>
      <p:sp>
        <p:nvSpPr>
          <p:cNvPr id="981" name="Rectangle 980">
            <a:extLst>
              <a:ext uri="{FF2B5EF4-FFF2-40B4-BE49-F238E27FC236}">
                <a16:creationId xmlns:a16="http://schemas.microsoft.com/office/drawing/2014/main" id="{8B3426AF-8937-690A-06B5-7ED9FAC98968}"/>
              </a:ext>
            </a:extLst>
          </p:cNvPr>
          <p:cNvSpPr/>
          <p:nvPr/>
        </p:nvSpPr>
        <p:spPr>
          <a:xfrm>
            <a:off x="1737705" y="25103651"/>
            <a:ext cx="1243086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Distributed</a:t>
            </a:r>
          </a:p>
          <a:p>
            <a:pPr algn="ctr"/>
            <a:r>
              <a:rPr lang="en-US" sz="1800" dirty="0"/>
              <a:t>(Apache Spark)</a:t>
            </a:r>
          </a:p>
        </p:txBody>
      </p:sp>
      <p:sp>
        <p:nvSpPr>
          <p:cNvPr id="985" name="Rectangle 984">
            <a:extLst>
              <a:ext uri="{FF2B5EF4-FFF2-40B4-BE49-F238E27FC236}">
                <a16:creationId xmlns:a16="http://schemas.microsoft.com/office/drawing/2014/main" id="{B0E87D8C-25BF-C0C1-56D2-A6DF58597B22}"/>
              </a:ext>
            </a:extLst>
          </p:cNvPr>
          <p:cNvSpPr/>
          <p:nvPr/>
        </p:nvSpPr>
        <p:spPr>
          <a:xfrm>
            <a:off x="3082140" y="25103651"/>
            <a:ext cx="1243086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Multi-node</a:t>
            </a:r>
          </a:p>
          <a:p>
            <a:pPr algn="ctr"/>
            <a:r>
              <a:rPr lang="en-US" sz="1800" dirty="0"/>
              <a:t>Multi-threaded</a:t>
            </a:r>
          </a:p>
        </p:txBody>
      </p:sp>
      <p:sp>
        <p:nvSpPr>
          <p:cNvPr id="986" name="Rectangle 985">
            <a:extLst>
              <a:ext uri="{FF2B5EF4-FFF2-40B4-BE49-F238E27FC236}">
                <a16:creationId xmlns:a16="http://schemas.microsoft.com/office/drawing/2014/main" id="{AA42A7DF-FC70-2676-95AD-1991B471448F}"/>
              </a:ext>
            </a:extLst>
          </p:cNvPr>
          <p:cNvSpPr/>
          <p:nvPr/>
        </p:nvSpPr>
        <p:spPr>
          <a:xfrm>
            <a:off x="4406858" y="25103651"/>
            <a:ext cx="1243086" cy="1265039"/>
          </a:xfrm>
          <a:prstGeom prst="rect">
            <a:avLst/>
          </a:prstGeom>
          <a:noFill/>
          <a:ln w="28575">
            <a:solidFill>
              <a:srgbClr val="001E6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Single-GPU</a:t>
            </a:r>
          </a:p>
        </p:txBody>
      </p:sp>
      <p:sp>
        <p:nvSpPr>
          <p:cNvPr id="987" name="Rectangle 986">
            <a:extLst>
              <a:ext uri="{FF2B5EF4-FFF2-40B4-BE49-F238E27FC236}">
                <a16:creationId xmlns:a16="http://schemas.microsoft.com/office/drawing/2014/main" id="{A9B9D3AE-762A-AD23-0450-AEA28A512AD4}"/>
              </a:ext>
            </a:extLst>
          </p:cNvPr>
          <p:cNvSpPr/>
          <p:nvPr/>
        </p:nvSpPr>
        <p:spPr>
          <a:xfrm>
            <a:off x="5754288" y="25103651"/>
            <a:ext cx="1243086" cy="126503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Multi-node Multi-GPUs (MNMG)</a:t>
            </a:r>
            <a:endParaRPr lang="en-US" sz="6214" dirty="0"/>
          </a:p>
        </p:txBody>
      </p:sp>
      <p:sp>
        <p:nvSpPr>
          <p:cNvPr id="988" name="Rectangle: Single Corner Snipped 987">
            <a:extLst>
              <a:ext uri="{FF2B5EF4-FFF2-40B4-BE49-F238E27FC236}">
                <a16:creationId xmlns:a16="http://schemas.microsoft.com/office/drawing/2014/main" id="{5207ECC6-3F0C-2FE2-D75B-BC8FEE20DF0F}"/>
              </a:ext>
            </a:extLst>
          </p:cNvPr>
          <p:cNvSpPr/>
          <p:nvPr/>
        </p:nvSpPr>
        <p:spPr>
          <a:xfrm>
            <a:off x="1737706" y="26463856"/>
            <a:ext cx="1243085" cy="437449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RDFox</a:t>
            </a:r>
            <a:endParaRPr lang="en-US" sz="1800"/>
          </a:p>
        </p:txBody>
      </p:sp>
      <p:sp>
        <p:nvSpPr>
          <p:cNvPr id="989" name="Rectangle: Single Corner Snipped 988">
            <a:extLst>
              <a:ext uri="{FF2B5EF4-FFF2-40B4-BE49-F238E27FC236}">
                <a16:creationId xmlns:a16="http://schemas.microsoft.com/office/drawing/2014/main" id="{28F93A8E-A7A5-89BD-4259-50E3CB9F270B}"/>
              </a:ext>
            </a:extLst>
          </p:cNvPr>
          <p:cNvSpPr/>
          <p:nvPr/>
        </p:nvSpPr>
        <p:spPr>
          <a:xfrm>
            <a:off x="3056321" y="26463856"/>
            <a:ext cx="1239959" cy="435443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SLOG</a:t>
            </a:r>
          </a:p>
        </p:txBody>
      </p:sp>
      <p:sp>
        <p:nvSpPr>
          <p:cNvPr id="990" name="Rectangle: Single Corner Snipped 989">
            <a:extLst>
              <a:ext uri="{FF2B5EF4-FFF2-40B4-BE49-F238E27FC236}">
                <a16:creationId xmlns:a16="http://schemas.microsoft.com/office/drawing/2014/main" id="{67F03148-2967-DB75-68DF-46260D0D14BD}"/>
              </a:ext>
            </a:extLst>
          </p:cNvPr>
          <p:cNvSpPr/>
          <p:nvPr/>
        </p:nvSpPr>
        <p:spPr>
          <a:xfrm>
            <a:off x="4408236" y="26463856"/>
            <a:ext cx="1243085" cy="437449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 err="1"/>
              <a:t>GPUJoin</a:t>
            </a:r>
          </a:p>
        </p:txBody>
      </p:sp>
      <p:sp>
        <p:nvSpPr>
          <p:cNvPr id="991" name="Rectangle: Single Corner Snipped 990">
            <a:extLst>
              <a:ext uri="{FF2B5EF4-FFF2-40B4-BE49-F238E27FC236}">
                <a16:creationId xmlns:a16="http://schemas.microsoft.com/office/drawing/2014/main" id="{5AEB2513-F90E-D182-62B8-4A7031B79CB7}"/>
              </a:ext>
            </a:extLst>
          </p:cNvPr>
          <p:cNvSpPr/>
          <p:nvPr/>
        </p:nvSpPr>
        <p:spPr>
          <a:xfrm>
            <a:off x="4408236" y="27004647"/>
            <a:ext cx="1243085" cy="433435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GPULog</a:t>
            </a:r>
            <a:endParaRPr lang="en-US" sz="1800"/>
          </a:p>
        </p:txBody>
      </p:sp>
      <p:sp>
        <p:nvSpPr>
          <p:cNvPr id="992" name="Rectangle: Single Corner Snipped 991">
            <a:extLst>
              <a:ext uri="{FF2B5EF4-FFF2-40B4-BE49-F238E27FC236}">
                <a16:creationId xmlns:a16="http://schemas.microsoft.com/office/drawing/2014/main" id="{843EEB43-0D5F-D909-E06D-492905477FF8}"/>
              </a:ext>
            </a:extLst>
          </p:cNvPr>
          <p:cNvSpPr/>
          <p:nvPr/>
        </p:nvSpPr>
        <p:spPr>
          <a:xfrm>
            <a:off x="419271" y="26463855"/>
            <a:ext cx="1239959" cy="435442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Soufflé</a:t>
            </a:r>
          </a:p>
        </p:txBody>
      </p:sp>
      <p:sp>
        <p:nvSpPr>
          <p:cNvPr id="993" name="Rectangle: Single Corner Snipped 992">
            <a:extLst>
              <a:ext uri="{FF2B5EF4-FFF2-40B4-BE49-F238E27FC236}">
                <a16:creationId xmlns:a16="http://schemas.microsoft.com/office/drawing/2014/main" id="{C786B641-58A6-7A64-8263-B1711E155F1E}"/>
              </a:ext>
            </a:extLst>
          </p:cNvPr>
          <p:cNvSpPr/>
          <p:nvPr/>
        </p:nvSpPr>
        <p:spPr>
          <a:xfrm>
            <a:off x="1737706" y="27027649"/>
            <a:ext cx="1249337" cy="433106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Radlog</a:t>
            </a:r>
            <a:endParaRPr lang="en-US" sz="1800"/>
          </a:p>
        </p:txBody>
      </p:sp>
      <p:sp>
        <p:nvSpPr>
          <p:cNvPr id="1007" name="Rectangle: Single Corner Snipped 1006">
            <a:extLst>
              <a:ext uri="{FF2B5EF4-FFF2-40B4-BE49-F238E27FC236}">
                <a16:creationId xmlns:a16="http://schemas.microsoft.com/office/drawing/2014/main" id="{F7352D73-37BD-335E-3A0D-53FB9A45BF6A}"/>
              </a:ext>
            </a:extLst>
          </p:cNvPr>
          <p:cNvSpPr/>
          <p:nvPr/>
        </p:nvSpPr>
        <p:spPr>
          <a:xfrm>
            <a:off x="411666" y="27027650"/>
            <a:ext cx="1239959" cy="431427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err="1"/>
              <a:t>LogicBlox</a:t>
            </a:r>
            <a:endParaRPr lang="en-US" sz="1800"/>
          </a:p>
        </p:txBody>
      </p:sp>
      <p:sp>
        <p:nvSpPr>
          <p:cNvPr id="1008" name="Rectangle: Single Corner Snipped 1007">
            <a:extLst>
              <a:ext uri="{FF2B5EF4-FFF2-40B4-BE49-F238E27FC236}">
                <a16:creationId xmlns:a16="http://schemas.microsoft.com/office/drawing/2014/main" id="{CDE09DB9-B0A5-C479-A8CD-CF1EC85E2CE1}"/>
              </a:ext>
            </a:extLst>
          </p:cNvPr>
          <p:cNvSpPr/>
          <p:nvPr/>
        </p:nvSpPr>
        <p:spPr>
          <a:xfrm>
            <a:off x="3056323" y="27004647"/>
            <a:ext cx="1243085" cy="433435"/>
          </a:xfrm>
          <a:prstGeom prst="snip1Rect">
            <a:avLst/>
          </a:prstGeom>
          <a:noFill/>
          <a:ln>
            <a:prstDash val="sys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dirty="0"/>
              <a:t>PRAM</a:t>
            </a:r>
          </a:p>
        </p:txBody>
      </p:sp>
      <p:sp>
        <p:nvSpPr>
          <p:cNvPr id="1432" name="Rectangle: Diagonal Corners Rounded 1431">
            <a:extLst>
              <a:ext uri="{FF2B5EF4-FFF2-40B4-BE49-F238E27FC236}">
                <a16:creationId xmlns:a16="http://schemas.microsoft.com/office/drawing/2014/main" id="{7743FA12-8B8F-8904-CF21-FCBE5849FCD5}"/>
              </a:ext>
            </a:extLst>
          </p:cNvPr>
          <p:cNvSpPr/>
          <p:nvPr/>
        </p:nvSpPr>
        <p:spPr>
          <a:xfrm>
            <a:off x="347703" y="24486915"/>
            <a:ext cx="6566563" cy="443139"/>
          </a:xfrm>
          <a:prstGeom prst="round2Diag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ea typeface="+mn-lt"/>
                <a:cs typeface="+mn-lt"/>
              </a:rPr>
              <a:t>Datalog Engine Categories</a:t>
            </a:r>
            <a:endParaRPr lang="en-US" sz="6214" dirty="0"/>
          </a:p>
        </p:txBody>
      </p:sp>
      <p:pic>
        <p:nvPicPr>
          <p:cNvPr id="1382" name="Picture 1381" descr="A white paper with black numbers and black text&#10;&#10;AI-generated content may be incorrect.">
            <a:extLst>
              <a:ext uri="{FF2B5EF4-FFF2-40B4-BE49-F238E27FC236}">
                <a16:creationId xmlns:a16="http://schemas.microsoft.com/office/drawing/2014/main" id="{608124FB-672C-4DC3-6ACA-3645376B6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3248" y="8945791"/>
            <a:ext cx="6582351" cy="2167708"/>
          </a:xfrm>
          <a:prstGeom prst="rect">
            <a:avLst/>
          </a:prstGeom>
        </p:spPr>
      </p:pic>
      <p:pic>
        <p:nvPicPr>
          <p:cNvPr id="1383" name="Picture 1382" descr="A graph of a number of gpus&#10;&#10;AI-generated content may be incorrect.">
            <a:extLst>
              <a:ext uri="{FF2B5EF4-FFF2-40B4-BE49-F238E27FC236}">
                <a16:creationId xmlns:a16="http://schemas.microsoft.com/office/drawing/2014/main" id="{44AD4B51-4551-C081-6AF8-D66299BC01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416" y="14902118"/>
            <a:ext cx="12142275" cy="3334273"/>
          </a:xfrm>
          <a:prstGeom prst="rect">
            <a:avLst/>
          </a:prstGeom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0985779-2246-5971-16B1-0B883AB29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7371" y="22518308"/>
            <a:ext cx="12128321" cy="7137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1B9AA4-CDF0-E2E3-4B19-B64BF5A479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5" y="14548721"/>
            <a:ext cx="6525188" cy="98577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C1743F4-F794-4B11-8312-97A06A6C8B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3243" y="6194236"/>
            <a:ext cx="5936259" cy="36057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792B3B-7130-C406-739C-62B328BAEA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4462" y="10385031"/>
            <a:ext cx="5374447" cy="391144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1C69F47-024F-4A90-4957-06F0CBCB2C14}"/>
              </a:ext>
            </a:extLst>
          </p:cNvPr>
          <p:cNvSpPr txBox="1"/>
          <p:nvPr/>
        </p:nvSpPr>
        <p:spPr>
          <a:xfrm>
            <a:off x="8397371" y="18164435"/>
            <a:ext cx="1211935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dirty="0">
                <a:ea typeface="+mn-lt"/>
                <a:cs typeface="+mn-lt"/>
              </a:rPr>
              <a:t>Weak scaling for iterative join (10M tuples/GPU)</a:t>
            </a:r>
            <a:endParaRPr lang="en-US" sz="2400" b="1" dirty="0">
              <a:ea typeface="Calibri"/>
              <a:cs typeface="Calibri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BC31CE3-1525-548A-DBAB-EB291D59EB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8410" y="18791159"/>
            <a:ext cx="12128321" cy="307769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3D44E59-1BA2-8543-265D-5D21099851F5}"/>
              </a:ext>
            </a:extLst>
          </p:cNvPr>
          <p:cNvSpPr txBox="1"/>
          <p:nvPr/>
        </p:nvSpPr>
        <p:spPr>
          <a:xfrm>
            <a:off x="14734116" y="11473080"/>
            <a:ext cx="657354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Single-GPU evaluation for Same Generation (SG)</a:t>
            </a:r>
            <a:endParaRPr lang="en-US" sz="6214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307C489-E234-F90E-BD77-E104BA4F6EF3}"/>
              </a:ext>
            </a:extLst>
          </p:cNvPr>
          <p:cNvSpPr/>
          <p:nvPr/>
        </p:nvSpPr>
        <p:spPr>
          <a:xfrm>
            <a:off x="328678" y="30575382"/>
            <a:ext cx="6562908" cy="160173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Calibri"/>
                <a:cs typeface="Calibri"/>
              </a:rPr>
              <a:t>First multi-node multi-GPU Datalog engine</a:t>
            </a:r>
          </a:p>
          <a:p>
            <a:r>
              <a:rPr lang="en-US" sz="2400" b="1" dirty="0">
                <a:ea typeface="Calibri"/>
                <a:cs typeface="Calibri"/>
              </a:rPr>
              <a:t>Single-GPU</a:t>
            </a:r>
            <a:r>
              <a:rPr lang="en-US" sz="2400" dirty="0">
                <a:ea typeface="Calibri"/>
                <a:cs typeface="Calibri"/>
              </a:rPr>
              <a:t>: </a:t>
            </a:r>
            <a:r>
              <a:rPr lang="en-US" sz="2400" dirty="0">
                <a:ea typeface="+mn-lt"/>
                <a:cs typeface="+mn-lt"/>
              </a:rPr>
              <a:t>Up to 7× speedup over </a:t>
            </a:r>
            <a:r>
              <a:rPr lang="en-US" sz="2400" dirty="0" err="1">
                <a:ea typeface="+mn-lt"/>
                <a:cs typeface="+mn-lt"/>
              </a:rPr>
              <a:t>GPULog</a:t>
            </a:r>
            <a:endParaRPr lang="en-US" sz="2400" dirty="0">
              <a:ea typeface="+mn-lt"/>
              <a:cs typeface="Calibri"/>
            </a:endParaRPr>
          </a:p>
          <a:p>
            <a:r>
              <a:rPr lang="en-US" sz="2400" b="1" dirty="0">
                <a:ea typeface="+mn-lt"/>
                <a:cs typeface="+mn-lt"/>
              </a:rPr>
              <a:t>Multi-threaded</a:t>
            </a:r>
            <a:r>
              <a:rPr lang="en-US" sz="2400" dirty="0">
                <a:ea typeface="+mn-lt"/>
                <a:cs typeface="+mn-lt"/>
              </a:rPr>
              <a:t>: Up to 33× over Soufflé</a:t>
            </a:r>
            <a:endParaRPr lang="en-US" sz="2400" dirty="0"/>
          </a:p>
          <a:p>
            <a:r>
              <a:rPr lang="en-US" sz="2400" b="1" dirty="0">
                <a:ea typeface="Calibri"/>
                <a:cs typeface="Calibri"/>
              </a:rPr>
              <a:t>Distributed</a:t>
            </a:r>
            <a:r>
              <a:rPr lang="en-US" sz="2400" dirty="0">
                <a:ea typeface="Calibri"/>
                <a:cs typeface="Calibri"/>
              </a:rPr>
              <a:t>: Up to 31.9× speedup over SLOG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C28990-A9F5-CECA-4C9A-41808741A47A}"/>
              </a:ext>
            </a:extLst>
          </p:cNvPr>
          <p:cNvSpPr txBox="1"/>
          <p:nvPr/>
        </p:nvSpPr>
        <p:spPr>
          <a:xfrm>
            <a:off x="342644" y="27622208"/>
            <a:ext cx="654780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i="1" dirty="0">
                <a:ea typeface="Open Sans"/>
                <a:cs typeface="Open Sans"/>
              </a:rPr>
              <a:t>Requirements for MNMG Datalog Engine</a:t>
            </a:r>
            <a:endParaRPr lang="en-US" sz="6214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6EF14E8F-CF7E-6E90-60A4-2D3B8635366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647513" y="11968817"/>
            <a:ext cx="6547313" cy="1949826"/>
          </a:xfrm>
          <a:prstGeom prst="rect">
            <a:avLst/>
          </a:prstGeom>
        </p:spPr>
      </p:pic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04D37829-2573-0432-50B4-32E539F2DA61}"/>
              </a:ext>
            </a:extLst>
          </p:cNvPr>
          <p:cNvSpPr/>
          <p:nvPr/>
        </p:nvSpPr>
        <p:spPr>
          <a:xfrm>
            <a:off x="14821202" y="7783073"/>
            <a:ext cx="6492240" cy="408072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800" b="1" i="0" kern="1200" dirty="0"/>
              <a:t>Datasets</a:t>
            </a:r>
            <a:r>
              <a:rPr lang="en-US" sz="1800" b="0" i="0" kern="1200" dirty="0"/>
              <a:t>: Stanford large network, </a:t>
            </a:r>
            <a:r>
              <a:rPr lang="en-US" sz="1800" b="0" i="0" kern="1200" dirty="0" err="1"/>
              <a:t>SuiteSparse</a:t>
            </a:r>
            <a:r>
              <a:rPr lang="en-US" sz="1800" b="0" i="0" kern="1200" dirty="0"/>
              <a:t>, Road network</a:t>
            </a:r>
            <a:endParaRPr lang="en-US" sz="1800" kern="1200" dirty="0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EB261B31-47F8-6EBA-04AE-E6ACEAD1BC1C}"/>
              </a:ext>
            </a:extLst>
          </p:cNvPr>
          <p:cNvSpPr/>
          <p:nvPr/>
        </p:nvSpPr>
        <p:spPr>
          <a:xfrm>
            <a:off x="14821202" y="7319433"/>
            <a:ext cx="6492240" cy="408072"/>
          </a:xfrm>
          <a:custGeom>
            <a:avLst/>
            <a:gdLst>
              <a:gd name="connsiteX0" fmla="*/ 0 w 9857035"/>
              <a:gd name="connsiteY0" fmla="*/ 68013 h 408072"/>
              <a:gd name="connsiteX1" fmla="*/ 68013 w 9857035"/>
              <a:gd name="connsiteY1" fmla="*/ 0 h 408072"/>
              <a:gd name="connsiteX2" fmla="*/ 9789022 w 9857035"/>
              <a:gd name="connsiteY2" fmla="*/ 0 h 408072"/>
              <a:gd name="connsiteX3" fmla="*/ 9857035 w 9857035"/>
              <a:gd name="connsiteY3" fmla="*/ 68013 h 408072"/>
              <a:gd name="connsiteX4" fmla="*/ 9857035 w 9857035"/>
              <a:gd name="connsiteY4" fmla="*/ 340059 h 408072"/>
              <a:gd name="connsiteX5" fmla="*/ 9789022 w 9857035"/>
              <a:gd name="connsiteY5" fmla="*/ 408072 h 408072"/>
              <a:gd name="connsiteX6" fmla="*/ 68013 w 9857035"/>
              <a:gd name="connsiteY6" fmla="*/ 408072 h 408072"/>
              <a:gd name="connsiteX7" fmla="*/ 0 w 9857035"/>
              <a:gd name="connsiteY7" fmla="*/ 340059 h 408072"/>
              <a:gd name="connsiteX8" fmla="*/ 0 w 9857035"/>
              <a:gd name="connsiteY8" fmla="*/ 68013 h 40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857035" h="408072">
                <a:moveTo>
                  <a:pt x="0" y="68013"/>
                </a:moveTo>
                <a:cubicBezTo>
                  <a:pt x="0" y="30450"/>
                  <a:pt x="30450" y="0"/>
                  <a:pt x="68013" y="0"/>
                </a:cubicBezTo>
                <a:lnTo>
                  <a:pt x="9789022" y="0"/>
                </a:lnTo>
                <a:cubicBezTo>
                  <a:pt x="9826585" y="0"/>
                  <a:pt x="9857035" y="30450"/>
                  <a:pt x="9857035" y="68013"/>
                </a:cubicBezTo>
                <a:lnTo>
                  <a:pt x="9857035" y="340059"/>
                </a:lnTo>
                <a:cubicBezTo>
                  <a:pt x="9857035" y="377622"/>
                  <a:pt x="9826585" y="408072"/>
                  <a:pt x="9789022" y="408072"/>
                </a:cubicBezTo>
                <a:lnTo>
                  <a:pt x="68013" y="408072"/>
                </a:lnTo>
                <a:cubicBezTo>
                  <a:pt x="30450" y="408072"/>
                  <a:pt x="0" y="377622"/>
                  <a:pt x="0" y="340059"/>
                </a:cubicBezTo>
                <a:lnTo>
                  <a:pt x="0" y="68013"/>
                </a:lnTo>
                <a:close/>
              </a:path>
            </a:pathLst>
          </a:cu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0" vert="horz" wrap="square" lIns="111360" tIns="111360" rIns="111360" bIns="111360" numCol="1" spcCol="1270" anchor="ctr" anchorCtr="0">
            <a:no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0668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800" b="1" dirty="0"/>
              <a:t>Apps</a:t>
            </a:r>
            <a:r>
              <a:rPr lang="en-US" sz="1800" dirty="0"/>
              <a:t>: Transitive Closure, Same Generation, Connected Component</a:t>
            </a:r>
            <a:endParaRPr lang="en-US" sz="1800" kern="1200" dirty="0"/>
          </a:p>
        </p:txBody>
      </p:sp>
      <p:pic>
        <p:nvPicPr>
          <p:cNvPr id="20" name="Graphic 19" descr="Badge Question Mark with solid fill">
            <a:extLst>
              <a:ext uri="{FF2B5EF4-FFF2-40B4-BE49-F238E27FC236}">
                <a16:creationId xmlns:a16="http://schemas.microsoft.com/office/drawing/2014/main" id="{00ED2ADF-BE51-EB18-5020-C22320746C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52868" y="26514375"/>
            <a:ext cx="914400" cy="9144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D7BAF3E4-565A-B954-F3EE-1A5E7127ADA7}"/>
              </a:ext>
            </a:extLst>
          </p:cNvPr>
          <p:cNvGrpSpPr/>
          <p:nvPr/>
        </p:nvGrpSpPr>
        <p:grpSpPr>
          <a:xfrm>
            <a:off x="10829788" y="30707835"/>
            <a:ext cx="1583999" cy="1438536"/>
            <a:chOff x="4868478" y="1656283"/>
            <a:chExt cx="2286193" cy="1438536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B51DAE52-78E9-5D53-12AA-ECC2836483C3}"/>
                </a:ext>
              </a:extLst>
            </p:cNvPr>
            <p:cNvGrpSpPr/>
            <p:nvPr/>
          </p:nvGrpSpPr>
          <p:grpSpPr>
            <a:xfrm>
              <a:off x="4868478" y="1656283"/>
              <a:ext cx="2286193" cy="1438536"/>
              <a:chOff x="4868478" y="1656283"/>
              <a:chExt cx="2286193" cy="1438536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CDF733CF-FE5E-01F0-ABF9-E2414E11E61B}"/>
                  </a:ext>
                </a:extLst>
              </p:cNvPr>
              <p:cNvSpPr/>
              <p:nvPr/>
            </p:nvSpPr>
            <p:spPr>
              <a:xfrm>
                <a:off x="4868478" y="1656283"/>
                <a:ext cx="2285352" cy="1438536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61" name="TextBox 4">
                <a:extLst>
                  <a:ext uri="{FF2B5EF4-FFF2-40B4-BE49-F238E27FC236}">
                    <a16:creationId xmlns:a16="http://schemas.microsoft.com/office/drawing/2014/main" id="{288183D9-BAF6-529E-1CE0-D66323168026}"/>
                  </a:ext>
                </a:extLst>
              </p:cNvPr>
              <p:cNvSpPr txBox="1"/>
              <p:nvPr/>
            </p:nvSpPr>
            <p:spPr>
              <a:xfrm>
                <a:off x="4870312" y="1657468"/>
                <a:ext cx="2284359" cy="738664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cs typeface="Arial"/>
                  </a:rPr>
                  <a:t>Optimizing Datalog for the GPU</a:t>
                </a:r>
              </a:p>
            </p:txBody>
          </p:sp>
        </p:grpSp>
        <p:pic>
          <p:nvPicPr>
            <p:cNvPr id="59" name="Picture 58" descr="A white text on a gray background&#10;&#10;Description automatically generated">
              <a:extLst>
                <a:ext uri="{FF2B5EF4-FFF2-40B4-BE49-F238E27FC236}">
                  <a16:creationId xmlns:a16="http://schemas.microsoft.com/office/drawing/2014/main" id="{48239F73-7C56-CA80-2043-400A2E6EF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945074" y="2594023"/>
              <a:ext cx="2058222" cy="386429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25DF24D-EE48-15A9-F08F-61F4841AC714}"/>
              </a:ext>
            </a:extLst>
          </p:cNvPr>
          <p:cNvGrpSpPr/>
          <p:nvPr/>
        </p:nvGrpSpPr>
        <p:grpSpPr>
          <a:xfrm>
            <a:off x="9101975" y="30707220"/>
            <a:ext cx="1605086" cy="1439151"/>
            <a:chOff x="1124025" y="1664476"/>
            <a:chExt cx="2286193" cy="1465149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3C028D1B-F56C-D13F-F721-33300195A110}"/>
                </a:ext>
              </a:extLst>
            </p:cNvPr>
            <p:cNvSpPr/>
            <p:nvPr/>
          </p:nvSpPr>
          <p:spPr>
            <a:xfrm>
              <a:off x="1124025" y="1664476"/>
              <a:ext cx="2285353" cy="146514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1800">
                <a:solidFill>
                  <a:srgbClr val="000000"/>
                </a:solidFill>
              </a:endParaRPr>
            </a:p>
          </p:txBody>
        </p:sp>
        <p:sp>
          <p:nvSpPr>
            <p:cNvPr id="55" name="TextBox 15">
              <a:extLst>
                <a:ext uri="{FF2B5EF4-FFF2-40B4-BE49-F238E27FC236}">
                  <a16:creationId xmlns:a16="http://schemas.microsoft.com/office/drawing/2014/main" id="{745A01E8-2404-F925-290E-B0E6054AB28E}"/>
                </a:ext>
              </a:extLst>
            </p:cNvPr>
            <p:cNvSpPr txBox="1"/>
            <p:nvPr/>
          </p:nvSpPr>
          <p:spPr>
            <a:xfrm>
              <a:off x="1125857" y="1665660"/>
              <a:ext cx="2284361" cy="1190678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400" dirty="0">
                  <a:solidFill>
                    <a:srgbClr val="000000"/>
                  </a:solidFill>
                  <a:cs typeface="Arial"/>
                </a:rPr>
                <a:t>Towards iterative relational algebra on the {GPU}</a:t>
              </a:r>
            </a:p>
            <a:p>
              <a:pPr algn="l"/>
              <a:endParaRPr lang="en-US" sz="1400" dirty="0">
                <a:solidFill>
                  <a:srgbClr val="000000"/>
                </a:solidFill>
                <a:cs typeface="Arial"/>
              </a:endParaRPr>
            </a:p>
          </p:txBody>
        </p:sp>
        <p:pic>
          <p:nvPicPr>
            <p:cNvPr id="56" name="Picture 55" descr="A blue sign with yellow letters&#10;&#10;Description automatically generated">
              <a:extLst>
                <a:ext uri="{FF2B5EF4-FFF2-40B4-BE49-F238E27FC236}">
                  <a16:creationId xmlns:a16="http://schemas.microsoft.com/office/drawing/2014/main" id="{31BA7605-41A9-3216-6EAC-7C50EF368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14647" y="2408369"/>
              <a:ext cx="1323074" cy="651458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E269E94-76E9-CC5F-418B-BB44C58F2830}"/>
              </a:ext>
            </a:extLst>
          </p:cNvPr>
          <p:cNvGrpSpPr/>
          <p:nvPr/>
        </p:nvGrpSpPr>
        <p:grpSpPr>
          <a:xfrm>
            <a:off x="7453885" y="30707837"/>
            <a:ext cx="1619466" cy="1438535"/>
            <a:chOff x="7451479" y="1664477"/>
            <a:chExt cx="1736256" cy="1451453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88A8117-7C88-647B-52ED-3998E617F865}"/>
                </a:ext>
              </a:extLst>
            </p:cNvPr>
            <p:cNvGrpSpPr/>
            <p:nvPr/>
          </p:nvGrpSpPr>
          <p:grpSpPr>
            <a:xfrm>
              <a:off x="7451479" y="1664477"/>
              <a:ext cx="1736256" cy="1451453"/>
              <a:chOff x="7476376" y="1664477"/>
              <a:chExt cx="2306676" cy="1451453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A577B0E-B3C9-62D6-55E9-D688E3EC2F55}"/>
                  </a:ext>
                </a:extLst>
              </p:cNvPr>
              <p:cNvSpPr/>
              <p:nvPr/>
            </p:nvSpPr>
            <p:spPr>
              <a:xfrm>
                <a:off x="7476376" y="1664477"/>
                <a:ext cx="2184680" cy="1451453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49" name="TextBox 6">
                <a:extLst>
                  <a:ext uri="{FF2B5EF4-FFF2-40B4-BE49-F238E27FC236}">
                    <a16:creationId xmlns:a16="http://schemas.microsoft.com/office/drawing/2014/main" id="{E9E03252-FFEC-9B1F-7D8F-3597DB25DA22}"/>
                  </a:ext>
                </a:extLst>
              </p:cNvPr>
              <p:cNvSpPr txBox="1"/>
              <p:nvPr/>
            </p:nvSpPr>
            <p:spPr>
              <a:xfrm>
                <a:off x="7498692" y="1665662"/>
                <a:ext cx="2284360" cy="954107"/>
              </a:xfrm>
              <a:prstGeom prst="rect">
                <a:avLst/>
              </a:prstGeom>
              <a:noFill/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solidFill>
                      <a:srgbClr val="000000"/>
                    </a:solidFill>
                    <a:cs typeface="Arial"/>
                  </a:rPr>
                  <a:t>Accelerating Datalog applications with </a:t>
                </a:r>
                <a:r>
                  <a:rPr lang="en-US" sz="1400" dirty="0" err="1">
                    <a:solidFill>
                      <a:srgbClr val="000000"/>
                    </a:solidFill>
                    <a:cs typeface="Arial"/>
                  </a:rPr>
                  <a:t>cuDF</a:t>
                </a:r>
                <a:endParaRPr lang="en-US" sz="1400" dirty="0">
                  <a:solidFill>
                    <a:srgbClr val="000000"/>
                  </a:solidFill>
                  <a:cs typeface="Arial"/>
                </a:endParaRPr>
              </a:p>
            </p:txBody>
          </p:sp>
        </p:grpSp>
        <p:pic>
          <p:nvPicPr>
            <p:cNvPr id="46" name="Picture 45" descr="A number on a white background&#10;&#10;Description automatically generated">
              <a:extLst>
                <a:ext uri="{FF2B5EF4-FFF2-40B4-BE49-F238E27FC236}">
                  <a16:creationId xmlns:a16="http://schemas.microsoft.com/office/drawing/2014/main" id="{C588C3C6-DD71-9F16-63B3-5D0255CB9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718227" y="2696460"/>
              <a:ext cx="1057977" cy="356147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A5DFD7E-0842-FA2E-2A45-F76BB28FDEAC}"/>
              </a:ext>
            </a:extLst>
          </p:cNvPr>
          <p:cNvGrpSpPr/>
          <p:nvPr/>
        </p:nvGrpSpPr>
        <p:grpSpPr>
          <a:xfrm>
            <a:off x="12535468" y="30707835"/>
            <a:ext cx="1583999" cy="1438536"/>
            <a:chOff x="4868478" y="1656283"/>
            <a:chExt cx="2286193" cy="143853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A7C9E162-ABC0-78C9-2D55-587426030E7F}"/>
                </a:ext>
              </a:extLst>
            </p:cNvPr>
            <p:cNvGrpSpPr/>
            <p:nvPr/>
          </p:nvGrpSpPr>
          <p:grpSpPr>
            <a:xfrm>
              <a:off x="4868478" y="1656283"/>
              <a:ext cx="2286193" cy="1438536"/>
              <a:chOff x="4868478" y="1656283"/>
              <a:chExt cx="2286193" cy="1438536"/>
            </a:xfrm>
          </p:grpSpPr>
          <p:sp>
            <p:nvSpPr>
              <p:cNvPr id="1345" name="Rectangle 1344">
                <a:extLst>
                  <a:ext uri="{FF2B5EF4-FFF2-40B4-BE49-F238E27FC236}">
                    <a16:creationId xmlns:a16="http://schemas.microsoft.com/office/drawing/2014/main" id="{7B75AA07-6D21-1074-172A-2CB8911A9D25}"/>
                  </a:ext>
                </a:extLst>
              </p:cNvPr>
              <p:cNvSpPr/>
              <p:nvPr/>
            </p:nvSpPr>
            <p:spPr>
              <a:xfrm>
                <a:off x="4868478" y="1656283"/>
                <a:ext cx="2078999" cy="1438536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18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46" name="TextBox 4">
                <a:extLst>
                  <a:ext uri="{FF2B5EF4-FFF2-40B4-BE49-F238E27FC236}">
                    <a16:creationId xmlns:a16="http://schemas.microsoft.com/office/drawing/2014/main" id="{66B5C2CE-A928-B07D-EC70-37ED9BEE80A9}"/>
                  </a:ext>
                </a:extLst>
              </p:cNvPr>
              <p:cNvSpPr txBox="1"/>
              <p:nvPr/>
            </p:nvSpPr>
            <p:spPr>
              <a:xfrm>
                <a:off x="4870312" y="1657468"/>
                <a:ext cx="2284359" cy="73866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400" dirty="0">
                    <a:cs typeface="Arial"/>
                  </a:rPr>
                  <a:t>Multi-node multi-GPU Datalog</a:t>
                </a:r>
                <a:endParaRPr lang="en-US" sz="1800" dirty="0"/>
              </a:p>
            </p:txBody>
          </p:sp>
        </p:grpSp>
        <p:pic>
          <p:nvPicPr>
            <p:cNvPr id="1344" name="Picture 1343" descr="ICS 2025(Salt Lake City UT) - ACM International Conference on ...">
              <a:extLst>
                <a:ext uri="{FF2B5EF4-FFF2-40B4-BE49-F238E27FC236}">
                  <a16:creationId xmlns:a16="http://schemas.microsoft.com/office/drawing/2014/main" id="{04B68519-69C3-FF18-8817-AE2C10C3C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180891" y="2451146"/>
              <a:ext cx="1432220" cy="565172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pic>
      </p:grpSp>
      <p:sp>
        <p:nvSpPr>
          <p:cNvPr id="1347" name="TextBox 1346">
            <a:extLst>
              <a:ext uri="{FF2B5EF4-FFF2-40B4-BE49-F238E27FC236}">
                <a16:creationId xmlns:a16="http://schemas.microsoft.com/office/drawing/2014/main" id="{DAA77923-D635-2C33-DC85-779382DC6437}"/>
              </a:ext>
            </a:extLst>
          </p:cNvPr>
          <p:cNvSpPr txBox="1"/>
          <p:nvPr/>
        </p:nvSpPr>
        <p:spPr>
          <a:xfrm>
            <a:off x="21946235" y="8221613"/>
            <a:ext cx="68714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Energy efficiency metric: Tuples/Joule</a:t>
            </a:r>
            <a:endParaRPr lang="en-US" dirty="0"/>
          </a:p>
        </p:txBody>
      </p:sp>
      <p:pic>
        <p:nvPicPr>
          <p:cNvPr id="1348" name="Picture 1347" descr="Argonne National Laboratory Electric Vehicle - Esther Petronilla">
            <a:extLst>
              <a:ext uri="{FF2B5EF4-FFF2-40B4-BE49-F238E27FC236}">
                <a16:creationId xmlns:a16="http://schemas.microsoft.com/office/drawing/2014/main" id="{D00A9125-00F5-CD89-22FF-F64B97D908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6256341" y="30818251"/>
            <a:ext cx="2671288" cy="1373576"/>
          </a:xfrm>
          <a:prstGeom prst="rect">
            <a:avLst/>
          </a:prstGeom>
        </p:spPr>
      </p:pic>
      <p:pic>
        <p:nvPicPr>
          <p:cNvPr id="1349" name="Picture 1348">
            <a:extLst>
              <a:ext uri="{FF2B5EF4-FFF2-40B4-BE49-F238E27FC236}">
                <a16:creationId xmlns:a16="http://schemas.microsoft.com/office/drawing/2014/main" id="{5156B63C-3C93-5D1B-E515-89D6C3DE6E6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14867093" y="30803236"/>
            <a:ext cx="1384981" cy="137459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E79B5B8-14FC-E687-34EC-314F5FBC8B13}"/>
              </a:ext>
            </a:extLst>
          </p:cNvPr>
          <p:cNvSpPr txBox="1"/>
          <p:nvPr/>
        </p:nvSpPr>
        <p:spPr>
          <a:xfrm>
            <a:off x="14792694" y="29907990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/>
                <a:ea typeface="+mn-lt"/>
                <a:cs typeface="Arial"/>
              </a:rPr>
              <a:t>Acknowledgement</a:t>
            </a:r>
            <a:endParaRPr lang="en-US" sz="3200" dirty="0">
              <a:latin typeface="Bree Serif"/>
            </a:endParaRPr>
          </a:p>
        </p:txBody>
      </p:sp>
      <p:pic>
        <p:nvPicPr>
          <p:cNvPr id="1351" name="Picture 1350">
            <a:extLst>
              <a:ext uri="{FF2B5EF4-FFF2-40B4-BE49-F238E27FC236}">
                <a16:creationId xmlns:a16="http://schemas.microsoft.com/office/drawing/2014/main" id="{DE826474-1FC8-400F-2522-DF89FB9FDAD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9044877" y="30804810"/>
            <a:ext cx="2290493" cy="1368164"/>
          </a:xfrm>
          <a:prstGeom prst="rect">
            <a:avLst/>
          </a:prstGeom>
        </p:spPr>
      </p:pic>
      <p:sp>
        <p:nvSpPr>
          <p:cNvPr id="1352" name="Rectangle 1351">
            <a:extLst>
              <a:ext uri="{FF2B5EF4-FFF2-40B4-BE49-F238E27FC236}">
                <a16:creationId xmlns:a16="http://schemas.microsoft.com/office/drawing/2014/main" id="{0C0541BA-8DB7-C58F-732C-1FA46F6A5675}"/>
              </a:ext>
            </a:extLst>
          </p:cNvPr>
          <p:cNvSpPr/>
          <p:nvPr/>
        </p:nvSpPr>
        <p:spPr>
          <a:xfrm>
            <a:off x="-1185" y="3169710"/>
            <a:ext cx="29297396" cy="365362"/>
          </a:xfrm>
          <a:prstGeom prst="rect">
            <a:avLst/>
          </a:prstGeom>
          <a:solidFill>
            <a:srgbClr val="233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kern="1200"/>
            </a:defPPr>
            <a:lvl1pPr marL="0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194514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389028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583543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778057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972571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167085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361599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556114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/>
          </a:p>
        </p:txBody>
      </p:sp>
      <p:sp>
        <p:nvSpPr>
          <p:cNvPr id="1353" name="Rectangle 1352">
            <a:extLst>
              <a:ext uri="{FF2B5EF4-FFF2-40B4-BE49-F238E27FC236}">
                <a16:creationId xmlns:a16="http://schemas.microsoft.com/office/drawing/2014/main" id="{2CD1120D-B25E-A519-1BAC-CA3EE7F89D8A}"/>
              </a:ext>
            </a:extLst>
          </p:cNvPr>
          <p:cNvSpPr/>
          <p:nvPr/>
        </p:nvSpPr>
        <p:spPr>
          <a:xfrm>
            <a:off x="-807" y="32470210"/>
            <a:ext cx="29293450" cy="487065"/>
          </a:xfrm>
          <a:prstGeom prst="rect">
            <a:avLst/>
          </a:prstGeom>
          <a:solidFill>
            <a:srgbClr val="2336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 kern="1200"/>
            </a:defPPr>
            <a:lvl1pPr marL="0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194514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389028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583543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778057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972571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167085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361599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556114" algn="l" defTabSz="4389028" rtl="0" eaLnBrk="1" latinLnBrk="0" hangingPunct="1">
              <a:defRPr sz="8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600"/>
          </a:p>
        </p:txBody>
      </p:sp>
      <p:sp>
        <p:nvSpPr>
          <p:cNvPr id="1354" name="TextBox 1353">
            <a:extLst>
              <a:ext uri="{FF2B5EF4-FFF2-40B4-BE49-F238E27FC236}">
                <a16:creationId xmlns:a16="http://schemas.microsoft.com/office/drawing/2014/main" id="{3CB35222-4298-9882-2343-0CDB57060C46}"/>
              </a:ext>
            </a:extLst>
          </p:cNvPr>
          <p:cNvSpPr txBox="1"/>
          <p:nvPr/>
        </p:nvSpPr>
        <p:spPr>
          <a:xfrm>
            <a:off x="22036617" y="3857575"/>
            <a:ext cx="6599582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 err="1">
                <a:latin typeface="Bree Serif"/>
              </a:rPr>
              <a:t>Powerlog</a:t>
            </a:r>
            <a:r>
              <a:rPr lang="en-US" sz="3200" dirty="0">
                <a:latin typeface="Bree Serif"/>
              </a:rPr>
              <a:t> for Energy Profiling</a:t>
            </a:r>
            <a:endParaRPr lang="en-US" sz="3200" dirty="0">
              <a:latin typeface="Bree Serif" panose="02000503040000020004" pitchFamily="2" charset="0"/>
            </a:endParaRPr>
          </a:p>
        </p:txBody>
      </p:sp>
      <p:sp>
        <p:nvSpPr>
          <p:cNvPr id="1355" name="TextBox 1354">
            <a:extLst>
              <a:ext uri="{FF2B5EF4-FFF2-40B4-BE49-F238E27FC236}">
                <a16:creationId xmlns:a16="http://schemas.microsoft.com/office/drawing/2014/main" id="{47A1281B-E5B6-5A48-F73E-552C7CCC2716}"/>
              </a:ext>
            </a:extLst>
          </p:cNvPr>
          <p:cNvSpPr txBox="1"/>
          <p:nvPr/>
        </p:nvSpPr>
        <p:spPr>
          <a:xfrm>
            <a:off x="22060686" y="26162737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 panose="02000503040000020004" pitchFamily="2" charset="0"/>
              </a:rPr>
              <a:t>Conclusion</a:t>
            </a:r>
          </a:p>
        </p:txBody>
      </p:sp>
      <p:sp>
        <p:nvSpPr>
          <p:cNvPr id="1356" name="TextBox 1355">
            <a:extLst>
              <a:ext uri="{FF2B5EF4-FFF2-40B4-BE49-F238E27FC236}">
                <a16:creationId xmlns:a16="http://schemas.microsoft.com/office/drawing/2014/main" id="{DCF8BECC-4092-9888-6AA6-053CDB18F5BC}"/>
              </a:ext>
            </a:extLst>
          </p:cNvPr>
          <p:cNvSpPr txBox="1"/>
          <p:nvPr/>
        </p:nvSpPr>
        <p:spPr>
          <a:xfrm>
            <a:off x="22047074" y="26799851"/>
            <a:ext cx="6573544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First ever Datalog engine designed for multi-node multi-GPU HPC systems outperforming state-of-the-art engines</a:t>
            </a:r>
            <a:endParaRPr lang="en-US" sz="2400" dirty="0">
              <a:ea typeface="Open Sans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Introduces novel GPU-Aware communication for scalable recursive query evaluation</a:t>
            </a:r>
            <a:endParaRPr lang="en-US" sz="2400" dirty="0">
              <a:ea typeface="Open Sans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Supports recursive aggregation for Datalog rules using high-throughput GPU kernels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Power profiling of GPU-based Datalog engines</a:t>
            </a:r>
          </a:p>
        </p:txBody>
      </p:sp>
      <p:sp>
        <p:nvSpPr>
          <p:cNvPr id="1357" name="TextBox 1356">
            <a:extLst>
              <a:ext uri="{FF2B5EF4-FFF2-40B4-BE49-F238E27FC236}">
                <a16:creationId xmlns:a16="http://schemas.microsoft.com/office/drawing/2014/main" id="{B2EECA20-D25A-A96C-B394-98BF60D38670}"/>
              </a:ext>
            </a:extLst>
          </p:cNvPr>
          <p:cNvSpPr txBox="1"/>
          <p:nvPr/>
        </p:nvSpPr>
        <p:spPr>
          <a:xfrm>
            <a:off x="22036620" y="4782486"/>
            <a:ext cx="6567669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>
                <a:ea typeface="+mn-lt"/>
                <a:cs typeface="+mn-lt"/>
              </a:rPr>
              <a:t>Powerlog</a:t>
            </a:r>
            <a:r>
              <a:rPr lang="en-US" sz="2000" dirty="0">
                <a:ea typeface="+mn-lt"/>
                <a:cs typeface="+mn-lt"/>
              </a:rPr>
              <a:t>: the first GPU energy profiler for Datalog engines, enabling energy-efficiency evaluation of SOTA GPU-powered engines on Polaris</a:t>
            </a:r>
            <a:endParaRPr lang="en-US" sz="2000" b="1" dirty="0">
              <a:ea typeface="+mn-lt"/>
              <a:cs typeface="+mn-lt"/>
            </a:endParaRPr>
          </a:p>
        </p:txBody>
      </p:sp>
      <p:sp>
        <p:nvSpPr>
          <p:cNvPr id="1362" name="TextBox 1361">
            <a:extLst>
              <a:ext uri="{FF2B5EF4-FFF2-40B4-BE49-F238E27FC236}">
                <a16:creationId xmlns:a16="http://schemas.microsoft.com/office/drawing/2014/main" id="{CAAEFFCC-C8C0-A236-8661-C2BC2590958E}"/>
              </a:ext>
            </a:extLst>
          </p:cNvPr>
          <p:cNvSpPr txBox="1"/>
          <p:nvPr/>
        </p:nvSpPr>
        <p:spPr>
          <a:xfrm>
            <a:off x="22036618" y="9590641"/>
            <a:ext cx="65676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Workflow for energy profiling Datalog engines</a:t>
            </a:r>
            <a:endParaRPr lang="en-US" dirty="0"/>
          </a:p>
        </p:txBody>
      </p:sp>
      <p:sp>
        <p:nvSpPr>
          <p:cNvPr id="1375" name="TextBox 1374">
            <a:extLst>
              <a:ext uri="{FF2B5EF4-FFF2-40B4-BE49-F238E27FC236}">
                <a16:creationId xmlns:a16="http://schemas.microsoft.com/office/drawing/2014/main" id="{E1CE61B7-6D1B-885F-7A8A-94A7214BB83E}"/>
              </a:ext>
            </a:extLst>
          </p:cNvPr>
          <p:cNvSpPr txBox="1"/>
          <p:nvPr/>
        </p:nvSpPr>
        <p:spPr>
          <a:xfrm>
            <a:off x="22095185" y="29907990"/>
            <a:ext cx="6539947" cy="584775"/>
          </a:xfrm>
          <a:prstGeom prst="rect">
            <a:avLst/>
          </a:prstGeom>
          <a:ln>
            <a:noFill/>
          </a:ln>
          <a:effectLst>
            <a:outerShdw dist="114300" dir="5400000" algn="t" rotWithShape="0">
              <a:srgbClr val="EF5B5B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4702588">
              <a:defRPr/>
            </a:pPr>
            <a:r>
              <a:rPr lang="en-US" sz="3200" dirty="0">
                <a:latin typeface="Bree Serif"/>
              </a:rPr>
              <a:t>Future plan</a:t>
            </a:r>
            <a:endParaRPr lang="en-US" sz="3200" dirty="0">
              <a:latin typeface="Bree Serif" panose="02000503040000020004" pitchFamily="2" charset="0"/>
            </a:endParaRPr>
          </a:p>
        </p:txBody>
      </p:sp>
      <p:sp>
        <p:nvSpPr>
          <p:cNvPr id="1376" name="TextBox 1375">
            <a:extLst>
              <a:ext uri="{FF2B5EF4-FFF2-40B4-BE49-F238E27FC236}">
                <a16:creationId xmlns:a16="http://schemas.microsoft.com/office/drawing/2014/main" id="{B37D1CB6-858B-B9D1-2349-DBB4A367926B}"/>
              </a:ext>
            </a:extLst>
          </p:cNvPr>
          <p:cNvSpPr txBox="1"/>
          <p:nvPr/>
        </p:nvSpPr>
        <p:spPr>
          <a:xfrm>
            <a:off x="22133322" y="30349087"/>
            <a:ext cx="6573544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Open Sans"/>
                <a:cs typeface="Open Sans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Spatial and temporal load balancing</a:t>
            </a:r>
            <a:endParaRPr lang="en-US" sz="2400" dirty="0">
              <a:ea typeface="Open Sans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GPU-Aware HIP and </a:t>
            </a:r>
            <a:r>
              <a:rPr lang="en-US" sz="2400" dirty="0" err="1">
                <a:ea typeface="Open Sans"/>
                <a:cs typeface="Open Sans"/>
              </a:rPr>
              <a:t>OneAPI</a:t>
            </a:r>
            <a:r>
              <a:rPr lang="en-US" sz="2400" dirty="0">
                <a:ea typeface="Open Sans"/>
                <a:cs typeface="Open Sans"/>
              </a:rPr>
              <a:t> implementations</a:t>
            </a:r>
            <a:endParaRPr lang="en-US" sz="2400" dirty="0">
              <a:ea typeface="Open Sans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Application to </a:t>
            </a:r>
            <a:r>
              <a:rPr lang="en-US" sz="2400" dirty="0" err="1">
                <a:ea typeface="Open Sans"/>
                <a:cs typeface="Open Sans"/>
              </a:rPr>
              <a:t>Neurosymbolic</a:t>
            </a:r>
            <a:r>
              <a:rPr lang="en-US" sz="2400" dirty="0">
                <a:ea typeface="Open Sans"/>
                <a:cs typeface="Open Sans"/>
              </a:rPr>
              <a:t> programming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Open Sans"/>
                <a:cs typeface="Open Sans"/>
              </a:rPr>
              <a:t>Extend </a:t>
            </a:r>
            <a:r>
              <a:rPr lang="en-US" sz="2400" b="1" dirty="0" err="1">
                <a:ea typeface="Open Sans"/>
                <a:cs typeface="Open Sans"/>
              </a:rPr>
              <a:t>Powerlog</a:t>
            </a:r>
            <a:r>
              <a:rPr lang="en-US" sz="2400" dirty="0">
                <a:ea typeface="Open Sans"/>
                <a:cs typeface="Open Sans"/>
              </a:rPr>
              <a:t> to multi-node environment</a:t>
            </a:r>
          </a:p>
        </p:txBody>
      </p:sp>
      <p:pic>
        <p:nvPicPr>
          <p:cNvPr id="1377" name="Picture 1376">
            <a:extLst>
              <a:ext uri="{FF2B5EF4-FFF2-40B4-BE49-F238E27FC236}">
                <a16:creationId xmlns:a16="http://schemas.microsoft.com/office/drawing/2014/main" id="{964A911D-8CCD-1B51-8458-BBEA4587C8C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99391" y="1015502"/>
            <a:ext cx="4449296" cy="1190533"/>
          </a:xfrm>
          <a:prstGeom prst="rect">
            <a:avLst/>
          </a:prstGeom>
        </p:spPr>
      </p:pic>
      <p:pic>
        <p:nvPicPr>
          <p:cNvPr id="1379" name="Picture 1378">
            <a:extLst>
              <a:ext uri="{FF2B5EF4-FFF2-40B4-BE49-F238E27FC236}">
                <a16:creationId xmlns:a16="http://schemas.microsoft.com/office/drawing/2014/main" id="{42734F21-3668-C5E1-3AC8-D969B1E058A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2633230" y="10082949"/>
            <a:ext cx="5374447" cy="5175073"/>
          </a:xfrm>
          <a:prstGeom prst="rect">
            <a:avLst/>
          </a:prstGeom>
        </p:spPr>
      </p:pic>
      <p:pic>
        <p:nvPicPr>
          <p:cNvPr id="1380" name="Picture 1379">
            <a:extLst>
              <a:ext uri="{FF2B5EF4-FFF2-40B4-BE49-F238E27FC236}">
                <a16:creationId xmlns:a16="http://schemas.microsoft.com/office/drawing/2014/main" id="{4FAAFD03-5D23-462D-0F5A-7D01C788D60B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2304116" y="15776259"/>
            <a:ext cx="5712606" cy="5735684"/>
          </a:xfrm>
          <a:prstGeom prst="rect">
            <a:avLst/>
          </a:prstGeom>
        </p:spPr>
      </p:pic>
      <p:pic>
        <p:nvPicPr>
          <p:cNvPr id="1381" name="Picture 1380">
            <a:extLst>
              <a:ext uri="{FF2B5EF4-FFF2-40B4-BE49-F238E27FC236}">
                <a16:creationId xmlns:a16="http://schemas.microsoft.com/office/drawing/2014/main" id="{DD4CA9B4-0267-E591-8037-ACC90A0F9255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029171" y="22002226"/>
            <a:ext cx="6676793" cy="2306112"/>
          </a:xfrm>
          <a:prstGeom prst="rect">
            <a:avLst/>
          </a:prstGeom>
        </p:spPr>
      </p:pic>
      <p:pic>
        <p:nvPicPr>
          <p:cNvPr id="1358" name="Picture 1357">
            <a:extLst>
              <a:ext uri="{FF2B5EF4-FFF2-40B4-BE49-F238E27FC236}">
                <a16:creationId xmlns:a16="http://schemas.microsoft.com/office/drawing/2014/main" id="{3821B48F-57B5-F44F-D584-5D2D9D1585AF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2524005" y="6258270"/>
            <a:ext cx="5592898" cy="1089385"/>
          </a:xfrm>
          <a:prstGeom prst="rect">
            <a:avLst/>
          </a:prstGeom>
        </p:spPr>
      </p:pic>
      <p:sp>
        <p:nvSpPr>
          <p:cNvPr id="1360" name="TextBox 1359">
            <a:extLst>
              <a:ext uri="{FF2B5EF4-FFF2-40B4-BE49-F238E27FC236}">
                <a16:creationId xmlns:a16="http://schemas.microsoft.com/office/drawing/2014/main" id="{90D27827-F3B0-C77E-1F7D-3D1016DC31EA}"/>
              </a:ext>
            </a:extLst>
          </p:cNvPr>
          <p:cNvSpPr txBox="1"/>
          <p:nvPr/>
        </p:nvSpPr>
        <p:spPr>
          <a:xfrm>
            <a:off x="21967385" y="5758871"/>
            <a:ext cx="654466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Power consumption measurement</a:t>
            </a:r>
            <a:endParaRPr lang="en-US" dirty="0"/>
          </a:p>
        </p:txBody>
      </p:sp>
      <p:sp>
        <p:nvSpPr>
          <p:cNvPr id="1361" name="TextBox 1360">
            <a:extLst>
              <a:ext uri="{FF2B5EF4-FFF2-40B4-BE49-F238E27FC236}">
                <a16:creationId xmlns:a16="http://schemas.microsoft.com/office/drawing/2014/main" id="{560F4284-992C-E4FF-4DB9-9B5504340007}"/>
              </a:ext>
            </a:extLst>
          </p:cNvPr>
          <p:cNvSpPr txBox="1"/>
          <p:nvPr/>
        </p:nvSpPr>
        <p:spPr>
          <a:xfrm>
            <a:off x="22042862" y="7323297"/>
            <a:ext cx="6613192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ea typeface="Open Sans"/>
                <a:cs typeface="Open Sans"/>
              </a:rPr>
              <a:t>where,  </a:t>
            </a:r>
            <a:r>
              <a:rPr lang="en-US" sz="2400" dirty="0">
                <a:ea typeface="+mn-lt"/>
                <a:cs typeface="+mn-lt"/>
              </a:rPr>
              <a:t>E = total energy, N = # of samples, P</a:t>
            </a:r>
            <a:r>
              <a:rPr lang="en-US" sz="2400" baseline="-25000" dirty="0">
                <a:ea typeface="+mn-lt"/>
                <a:cs typeface="+mn-lt"/>
              </a:rPr>
              <a:t>i</a:t>
            </a:r>
            <a:r>
              <a:rPr lang="en-US" sz="2400" dirty="0">
                <a:ea typeface="+mn-lt"/>
                <a:cs typeface="+mn-lt"/>
              </a:rPr>
              <a:t> = power draw at </a:t>
            </a:r>
            <a:r>
              <a:rPr lang="en-US" sz="2400" dirty="0" err="1">
                <a:ea typeface="+mn-lt"/>
                <a:cs typeface="+mn-lt"/>
              </a:rPr>
              <a:t>i</a:t>
            </a:r>
            <a:r>
              <a:rPr lang="en-US" sz="2400" dirty="0">
                <a:ea typeface="+mn-lt"/>
                <a:cs typeface="+mn-lt"/>
              </a:rPr>
              <a:t>, </a:t>
            </a:r>
            <a:r>
              <a:rPr lang="en-US" sz="2400" dirty="0" err="1">
                <a:ea typeface="+mn-lt"/>
                <a:cs typeface="+mn-lt"/>
              </a:rPr>
              <a:t>Δt</a:t>
            </a:r>
            <a:r>
              <a:rPr lang="en-US" sz="2400" baseline="-25000" dirty="0" err="1">
                <a:ea typeface="+mn-lt"/>
                <a:cs typeface="+mn-lt"/>
              </a:rPr>
              <a:t>i</a:t>
            </a:r>
            <a:r>
              <a:rPr lang="en-US" sz="2400" dirty="0">
                <a:ea typeface="+mn-lt"/>
                <a:cs typeface="+mn-lt"/>
              </a:rPr>
              <a:t> = elapsed time between i,i+1</a:t>
            </a:r>
            <a:endParaRPr lang="en-US" sz="2400" dirty="0">
              <a:ea typeface="Open Sans"/>
              <a:cs typeface="Open Sans"/>
            </a:endParaRPr>
          </a:p>
        </p:txBody>
      </p:sp>
      <p:sp>
        <p:nvSpPr>
          <p:cNvPr id="1363" name="TextBox 1362">
            <a:extLst>
              <a:ext uri="{FF2B5EF4-FFF2-40B4-BE49-F238E27FC236}">
                <a16:creationId xmlns:a16="http://schemas.microsoft.com/office/drawing/2014/main" id="{2FED3AE7-395E-2108-8EA3-54BBD7CDB7A5}"/>
              </a:ext>
            </a:extLst>
          </p:cNvPr>
          <p:cNvSpPr txBox="1"/>
          <p:nvPr/>
        </p:nvSpPr>
        <p:spPr>
          <a:xfrm>
            <a:off x="22143171" y="15325158"/>
            <a:ext cx="65676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>
                <a:ea typeface="Open Sans"/>
                <a:cs typeface="Open Sans"/>
              </a:rPr>
              <a:t>Powerlog</a:t>
            </a:r>
            <a:r>
              <a:rPr lang="en-US" sz="2400" b="1" dirty="0">
                <a:ea typeface="Open Sans"/>
                <a:cs typeface="Open Sans"/>
              </a:rPr>
              <a:t> architecture</a:t>
            </a:r>
          </a:p>
        </p:txBody>
      </p:sp>
      <p:sp>
        <p:nvSpPr>
          <p:cNvPr id="1364" name="TextBox 1363">
            <a:extLst>
              <a:ext uri="{FF2B5EF4-FFF2-40B4-BE49-F238E27FC236}">
                <a16:creationId xmlns:a16="http://schemas.microsoft.com/office/drawing/2014/main" id="{447ABEA0-9A5A-B0AA-4DAB-263BCA72EF01}"/>
              </a:ext>
            </a:extLst>
          </p:cNvPr>
          <p:cNvSpPr txBox="1"/>
          <p:nvPr/>
        </p:nvSpPr>
        <p:spPr>
          <a:xfrm>
            <a:off x="22022126" y="21566938"/>
            <a:ext cx="656766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 err="1">
                <a:ea typeface="Open Sans"/>
                <a:cs typeface="Open Sans"/>
              </a:rPr>
              <a:t>MNMGDatalog</a:t>
            </a:r>
            <a:r>
              <a:rPr lang="en-US" sz="2400" b="1" dirty="0">
                <a:ea typeface="Open Sans"/>
                <a:cs typeface="Open Sans"/>
              </a:rPr>
              <a:t> multi-GPU power analysis</a:t>
            </a:r>
            <a:endParaRPr lang="en-US" dirty="0"/>
          </a:p>
        </p:txBody>
      </p:sp>
      <p:grpSp>
        <p:nvGrpSpPr>
          <p:cNvPr id="1369" name="Group 1368">
            <a:extLst>
              <a:ext uri="{FF2B5EF4-FFF2-40B4-BE49-F238E27FC236}">
                <a16:creationId xmlns:a16="http://schemas.microsoft.com/office/drawing/2014/main" id="{57E5A6DD-E7F8-657A-21C0-EA19AE1B36ED}"/>
              </a:ext>
            </a:extLst>
          </p:cNvPr>
          <p:cNvGrpSpPr/>
          <p:nvPr/>
        </p:nvGrpSpPr>
        <p:grpSpPr>
          <a:xfrm>
            <a:off x="22114203" y="8730307"/>
            <a:ext cx="7088641" cy="830997"/>
            <a:chOff x="7544584" y="30245397"/>
            <a:chExt cx="7088641" cy="830997"/>
          </a:xfrm>
        </p:grpSpPr>
        <p:sp>
          <p:nvSpPr>
            <p:cNvPr id="1366" name="TextBox 1365">
              <a:extLst>
                <a:ext uri="{FF2B5EF4-FFF2-40B4-BE49-F238E27FC236}">
                  <a16:creationId xmlns:a16="http://schemas.microsoft.com/office/drawing/2014/main" id="{B46F1B9A-AA70-BA9F-E1A7-727823953659}"/>
                </a:ext>
              </a:extLst>
            </p:cNvPr>
            <p:cNvSpPr txBox="1"/>
            <p:nvPr/>
          </p:nvSpPr>
          <p:spPr>
            <a:xfrm>
              <a:off x="9883526" y="30245397"/>
              <a:ext cx="4749699" cy="83099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ea typeface="+mn-lt"/>
                  <a:cs typeface="+mn-lt"/>
                </a:rPr>
                <a:t> Total number of tuples produced </a:t>
              </a:r>
              <a:br>
                <a:rPr lang="en-US" sz="2400" dirty="0">
                  <a:ea typeface="+mn-lt"/>
                  <a:cs typeface="+mn-lt"/>
                </a:rPr>
              </a:br>
              <a:r>
                <a:rPr lang="en-US" sz="2400" dirty="0">
                  <a:ea typeface="+mn-lt"/>
                  <a:cs typeface="+mn-lt"/>
                </a:rPr>
                <a:t> Total energy consumed (Joules)</a:t>
              </a:r>
              <a:endParaRPr lang="en-US" sz="6200" dirty="0">
                <a:ea typeface="+mn-lt"/>
                <a:cs typeface="+mn-lt"/>
              </a:endParaRPr>
            </a:p>
          </p:txBody>
        </p:sp>
        <p:sp>
          <p:nvSpPr>
            <p:cNvPr id="1367" name="TextBox 1366">
              <a:extLst>
                <a:ext uri="{FF2B5EF4-FFF2-40B4-BE49-F238E27FC236}">
                  <a16:creationId xmlns:a16="http://schemas.microsoft.com/office/drawing/2014/main" id="{C7EACFC1-AB1B-5923-FF0D-E204AD71CABF}"/>
                </a:ext>
              </a:extLst>
            </p:cNvPr>
            <p:cNvSpPr txBox="1"/>
            <p:nvPr/>
          </p:nvSpPr>
          <p:spPr>
            <a:xfrm>
              <a:off x="7544584" y="30443678"/>
              <a:ext cx="268796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56732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13464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4701966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6269288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7836610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9403932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0971254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2538577" algn="l" defTabSz="3134644" rtl="0" eaLnBrk="1" latinLnBrk="0" hangingPunct="1">
                <a:defRPr sz="6214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dirty="0">
                  <a:ea typeface="+mn-lt"/>
                  <a:cs typeface="+mn-lt"/>
                </a:rPr>
                <a:t>Tuples per Joule = </a:t>
              </a:r>
              <a:endParaRPr lang="en-US" sz="2400" dirty="0">
                <a:ea typeface="Calibri"/>
                <a:cs typeface="Calibri"/>
              </a:endParaRPr>
            </a:p>
          </p:txBody>
        </p:sp>
        <p:cxnSp>
          <p:nvCxnSpPr>
            <p:cNvPr id="1368" name="Straight Arrow Connector 1367">
              <a:extLst>
                <a:ext uri="{FF2B5EF4-FFF2-40B4-BE49-F238E27FC236}">
                  <a16:creationId xmlns:a16="http://schemas.microsoft.com/office/drawing/2014/main" id="{9DDCEE18-DB84-98C1-8289-F897B351932D}"/>
                </a:ext>
              </a:extLst>
            </p:cNvPr>
            <p:cNvCxnSpPr/>
            <p:nvPr/>
          </p:nvCxnSpPr>
          <p:spPr>
            <a:xfrm>
              <a:off x="9994350" y="30684293"/>
              <a:ext cx="4113438" cy="65"/>
            </a:xfrm>
            <a:prstGeom prst="straightConnector1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372" name="Picture 1371">
            <a:extLst>
              <a:ext uri="{FF2B5EF4-FFF2-40B4-BE49-F238E27FC236}">
                <a16:creationId xmlns:a16="http://schemas.microsoft.com/office/drawing/2014/main" id="{3E1EE95B-BD4B-B61A-AF50-2F564A778DC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954412" y="592317"/>
            <a:ext cx="1646221" cy="1504357"/>
          </a:xfrm>
          <a:prstGeom prst="rect">
            <a:avLst/>
          </a:prstGeom>
        </p:spPr>
      </p:pic>
      <p:sp>
        <p:nvSpPr>
          <p:cNvPr id="1378" name="Rectangle: Rounded Corners 1377">
            <a:extLst>
              <a:ext uri="{FF2B5EF4-FFF2-40B4-BE49-F238E27FC236}">
                <a16:creationId xmlns:a16="http://schemas.microsoft.com/office/drawing/2014/main" id="{52ECF141-A41B-84FF-491B-E12802B8D07B}"/>
              </a:ext>
            </a:extLst>
          </p:cNvPr>
          <p:cNvSpPr/>
          <p:nvPr/>
        </p:nvSpPr>
        <p:spPr>
          <a:xfrm>
            <a:off x="26988003" y="2202573"/>
            <a:ext cx="1542337" cy="39403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ea typeface="Calibri"/>
                <a:cs typeface="Calibri"/>
              </a:rPr>
              <a:t>Powerlog</a:t>
            </a:r>
            <a:endParaRPr lang="en-US" sz="2000" dirty="0" err="1"/>
          </a:p>
        </p:txBody>
      </p:sp>
      <p:pic>
        <p:nvPicPr>
          <p:cNvPr id="1385" name="Picture 1384">
            <a:extLst>
              <a:ext uri="{FF2B5EF4-FFF2-40B4-BE49-F238E27FC236}">
                <a16:creationId xmlns:a16="http://schemas.microsoft.com/office/drawing/2014/main" id="{3A92EC7E-A732-EEEE-6A8A-6E8D895BF28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018924" y="24784183"/>
            <a:ext cx="6564702" cy="1059972"/>
          </a:xfrm>
          <a:prstGeom prst="rect">
            <a:avLst/>
          </a:prstGeom>
        </p:spPr>
      </p:pic>
      <p:sp>
        <p:nvSpPr>
          <p:cNvPr id="1386" name="TextBox 1385">
            <a:extLst>
              <a:ext uri="{FF2B5EF4-FFF2-40B4-BE49-F238E27FC236}">
                <a16:creationId xmlns:a16="http://schemas.microsoft.com/office/drawing/2014/main" id="{B45B6EB2-5BDD-5B1E-62E2-9B61321132CF}"/>
              </a:ext>
            </a:extLst>
          </p:cNvPr>
          <p:cNvSpPr txBox="1"/>
          <p:nvPr/>
        </p:nvSpPr>
        <p:spPr>
          <a:xfrm>
            <a:off x="21995807" y="24350973"/>
            <a:ext cx="68714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>
                <a:ea typeface="Open Sans"/>
                <a:cs typeface="Open Sans"/>
              </a:rPr>
              <a:t>Energy efficiency evaluation using Tuples/Joule</a:t>
            </a:r>
            <a:endParaRPr lang="en-US" dirty="0"/>
          </a:p>
        </p:txBody>
      </p:sp>
      <p:pic>
        <p:nvPicPr>
          <p:cNvPr id="1365" name="Picture 1364">
            <a:extLst>
              <a:ext uri="{FF2B5EF4-FFF2-40B4-BE49-F238E27FC236}">
                <a16:creationId xmlns:a16="http://schemas.microsoft.com/office/drawing/2014/main" id="{EB734353-57C8-4E5F-12FA-F544B7818654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5062991" y="592317"/>
            <a:ext cx="1663671" cy="1535002"/>
          </a:xfrm>
          <a:prstGeom prst="rect">
            <a:avLst/>
          </a:prstGeom>
        </p:spPr>
      </p:pic>
      <p:sp>
        <p:nvSpPr>
          <p:cNvPr id="1374" name="Rectangle: Rounded Corners 1372">
            <a:extLst>
              <a:ext uri="{FF2B5EF4-FFF2-40B4-BE49-F238E27FC236}">
                <a16:creationId xmlns:a16="http://schemas.microsoft.com/office/drawing/2014/main" id="{51022F93-46E6-81F7-7231-68C711997F2A}"/>
              </a:ext>
            </a:extLst>
          </p:cNvPr>
          <p:cNvSpPr/>
          <p:nvPr/>
        </p:nvSpPr>
        <p:spPr>
          <a:xfrm>
            <a:off x="24978599" y="2202573"/>
            <a:ext cx="1828800" cy="38770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56732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13464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701966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269288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7836610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403932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1254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538577" algn="l" defTabSz="3134644" rtl="0" eaLnBrk="1" latinLnBrk="0" hangingPunct="1">
              <a:defRPr sz="621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dirty="0" err="1">
                <a:ea typeface="Calibri"/>
                <a:cs typeface="Calibri"/>
              </a:rPr>
              <a:t>MNMGDatalog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083149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templativecloud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5493</TotalTime>
  <Words>585</Words>
  <Application>Microsoft Macintosh PowerPoint</Application>
  <PresentationFormat>Custom</PresentationFormat>
  <Paragraphs>110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Consolas</vt:lpstr>
      <vt:lpstr>Arial</vt:lpstr>
      <vt:lpstr>Bree Serif</vt:lpstr>
      <vt:lpstr>Open Sans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of a scientific poster</dc:title>
  <dc:subject>Free Research Poster</dc:subject>
  <dc:creator>Graphicsland/MakeSigns.com</dc:creator>
  <cp:keywords>scientific, research, template, custom, poster, presentation, symposium, printing, powerpoint, create, design, example, sample, download</cp:keywords>
  <dc:description>These templates are offered for free to help your create a poster ranging from nursing research posters to psychology research posters.</dc:description>
  <cp:lastModifiedBy>Shovon, Ahmedur Rahman</cp:lastModifiedBy>
  <cp:revision>1833</cp:revision>
  <dcterms:modified xsi:type="dcterms:W3CDTF">2025-09-11T15:09:04Z</dcterms:modified>
  <cp:category>research posters template</cp:category>
</cp:coreProperties>
</file>